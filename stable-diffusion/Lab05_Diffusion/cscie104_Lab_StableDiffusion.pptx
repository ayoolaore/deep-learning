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3">
  <p:sldMasterIdLst>
    <p:sldMasterId id="2147483660" r:id="rId1"/>
  </p:sldMasterIdLst>
  <p:notesMasterIdLst>
    <p:notesMasterId r:id="rId10"/>
  </p:notesMasterIdLst>
  <p:sldIdLst>
    <p:sldId id="533" r:id="rId2"/>
    <p:sldId id="257" r:id="rId3"/>
    <p:sldId id="627" r:id="rId4"/>
    <p:sldId id="632" r:id="rId5"/>
    <p:sldId id="633" r:id="rId6"/>
    <p:sldId id="617" r:id="rId7"/>
    <p:sldId id="602" r:id="rId8"/>
    <p:sldId id="61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707F"/>
    <a:srgbClr val="3333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38" autoAdjust="0"/>
    <p:restoredTop sz="50000" autoAdjust="0"/>
  </p:normalViewPr>
  <p:slideViewPr>
    <p:cSldViewPr>
      <p:cViewPr varScale="1">
        <p:scale>
          <a:sx n="126" d="100"/>
          <a:sy n="126" d="100"/>
        </p:scale>
        <p:origin x="152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10888"/>
    </p:cViewPr>
  </p:sorterViewPr>
  <p:notesViewPr>
    <p:cSldViewPr>
      <p:cViewPr varScale="1">
        <p:scale>
          <a:sx n="41" d="100"/>
          <a:sy n="41" d="100"/>
        </p:scale>
        <p:origin x="-109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C395D-1039-4D8F-9622-BD52F5E94A9D}" type="datetimeFigureOut">
              <a:rPr lang="en-US" smtClean="0"/>
              <a:t>2/22/26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969672-6CF9-4499-BA81-17E932006C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 noChangeArrowheads="1"/>
          </p:cNvSpPr>
          <p:nvPr/>
        </p:nvSpPr>
        <p:spPr bwMode="auto">
          <a:xfrm>
            <a:off x="3888540" y="8689286"/>
            <a:ext cx="2969460" cy="454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24" tIns="47416" rIns="94824" bIns="47416" anchor="b"/>
          <a:lstStyle>
            <a:lvl1pPr defTabSz="947738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47738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47738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47738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47738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E0ABB3ED-EF3A-4289-96A6-5ED09864AA98}" type="slidenum">
              <a:rPr lang="en-GB" sz="1300">
                <a:solidFill>
                  <a:prstClr val="black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GB" sz="1300" dirty="0">
              <a:solidFill>
                <a:prstClr val="black"/>
              </a:solidFill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ChangeArrowheads="1"/>
          </p:cNvSpPr>
          <p:nvPr/>
        </p:nvSpPr>
        <p:spPr bwMode="gray">
          <a:xfrm>
            <a:off x="7188200" y="6184900"/>
            <a:ext cx="1646238" cy="37782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b="1">
                <a:solidFill>
                  <a:srgbClr val="000000"/>
                </a:solidFill>
                <a:ea typeface="ＭＳ Ｐゴシック" pitchFamily="34" charset="-128"/>
              </a:rPr>
              <a:t>YOR LOGO</a:t>
            </a:r>
          </a:p>
        </p:txBody>
      </p:sp>
      <p:sp>
        <p:nvSpPr>
          <p:cNvPr id="30925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63600" y="1435100"/>
            <a:ext cx="6653213" cy="912813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09254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863600" y="2405063"/>
            <a:ext cx="6675438" cy="588962"/>
          </a:xfrm>
        </p:spPr>
        <p:txBody>
          <a:bodyPr/>
          <a:lstStyle>
            <a:lvl1pPr marL="0" indent="0">
              <a:buFont typeface="Wingdings" pitchFamily="-110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6413690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90488"/>
            <a:ext cx="5011738" cy="7540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fld id="{B8D31796-BDC9-4D3D-B6F3-974477A16374}" type="slidenum">
              <a:rPr lang="de-DE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76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r>
              <a:rPr lang="de-DE">
                <a:solidFill>
                  <a:srgbClr val="000000"/>
                </a:solidFill>
                <a:sym typeface="Wingdings" pitchFamily="2" charset="2"/>
              </a:rPr>
              <a:t></a:t>
            </a:r>
            <a:r>
              <a:rPr lang="de-DE">
                <a:solidFill>
                  <a:srgbClr val="000000"/>
                </a:solidFill>
              </a:rPr>
              <a:t> </a:t>
            </a:r>
            <a:fld id="{246A353E-9B42-48BD-BEFC-4933B4BC6FAD}" type="slidenum">
              <a:rPr lang="de-DE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39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90488"/>
            <a:ext cx="5011738" cy="7540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614488"/>
            <a:ext cx="4186238" cy="4391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963" y="1614488"/>
            <a:ext cx="4186237" cy="4391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r>
              <a:rPr lang="de-DE">
                <a:solidFill>
                  <a:srgbClr val="000000"/>
                </a:solidFill>
                <a:sym typeface="Wingdings" pitchFamily="2" charset="2"/>
              </a:rPr>
              <a:t></a:t>
            </a:r>
            <a:r>
              <a:rPr lang="de-DE">
                <a:solidFill>
                  <a:srgbClr val="000000"/>
                </a:solidFill>
              </a:rPr>
              <a:t> </a:t>
            </a:r>
            <a:fld id="{1BD08254-E28D-4FCA-99AF-3B235EE7535C}" type="slidenum">
              <a:rPr lang="de-DE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012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r>
              <a:rPr lang="de-DE">
                <a:solidFill>
                  <a:srgbClr val="000000"/>
                </a:solidFill>
                <a:sym typeface="Wingdings" pitchFamily="2" charset="2"/>
              </a:rPr>
              <a:t></a:t>
            </a:r>
            <a:r>
              <a:rPr lang="de-DE">
                <a:solidFill>
                  <a:srgbClr val="000000"/>
                </a:solidFill>
              </a:rPr>
              <a:t> </a:t>
            </a:r>
            <a:fld id="{556A8D4B-6612-4AE9-BE57-EAFA0A0F12DE}" type="slidenum">
              <a:rPr lang="de-DE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507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90488"/>
            <a:ext cx="5011738" cy="7540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r>
              <a:rPr lang="de-DE">
                <a:solidFill>
                  <a:srgbClr val="000000"/>
                </a:solidFill>
                <a:sym typeface="Wingdings" pitchFamily="2" charset="2"/>
              </a:rPr>
              <a:t></a:t>
            </a:r>
            <a:r>
              <a:rPr lang="de-DE">
                <a:solidFill>
                  <a:srgbClr val="000000"/>
                </a:solidFill>
              </a:rPr>
              <a:t> </a:t>
            </a:r>
            <a:fld id="{01861034-0501-4AB7-930A-BCA713BD2785}" type="slidenum">
              <a:rPr lang="de-DE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82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r>
              <a:rPr lang="de-DE">
                <a:solidFill>
                  <a:srgbClr val="000000"/>
                </a:solidFill>
                <a:sym typeface="Wingdings" pitchFamily="2" charset="2"/>
              </a:rPr>
              <a:t></a:t>
            </a:r>
            <a:r>
              <a:rPr lang="de-DE">
                <a:solidFill>
                  <a:srgbClr val="000000"/>
                </a:solidFill>
              </a:rPr>
              <a:t> </a:t>
            </a:r>
            <a:fld id="{99128BF4-3726-4703-A278-871988ED8E24}" type="slidenum">
              <a:rPr lang="de-DE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0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r>
              <a:rPr lang="de-DE">
                <a:solidFill>
                  <a:srgbClr val="000000"/>
                </a:solidFill>
                <a:sym typeface="Wingdings" pitchFamily="2" charset="2"/>
              </a:rPr>
              <a:t></a:t>
            </a:r>
            <a:r>
              <a:rPr lang="de-DE">
                <a:solidFill>
                  <a:srgbClr val="000000"/>
                </a:solidFill>
              </a:rPr>
              <a:t> </a:t>
            </a:r>
            <a:fld id="{740D2087-6A36-43C7-8AB1-146E40305072}" type="slidenum">
              <a:rPr lang="de-DE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77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r>
              <a:rPr lang="de-DE">
                <a:solidFill>
                  <a:srgbClr val="000000"/>
                </a:solidFill>
                <a:sym typeface="Wingdings" pitchFamily="2" charset="2"/>
              </a:rPr>
              <a:t></a:t>
            </a:r>
            <a:r>
              <a:rPr lang="de-DE">
                <a:solidFill>
                  <a:srgbClr val="000000"/>
                </a:solidFill>
              </a:rPr>
              <a:t> </a:t>
            </a:r>
            <a:fld id="{B06BA601-F667-43ED-9811-EF4D4F3F3E5D}" type="slidenum">
              <a:rPr lang="de-DE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85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90488"/>
            <a:ext cx="5011738" cy="7540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r>
              <a:rPr lang="de-DE">
                <a:solidFill>
                  <a:srgbClr val="000000"/>
                </a:solidFill>
                <a:sym typeface="Wingdings" pitchFamily="2" charset="2"/>
              </a:rPr>
              <a:t></a:t>
            </a:r>
            <a:r>
              <a:rPr lang="de-DE">
                <a:solidFill>
                  <a:srgbClr val="000000"/>
                </a:solidFill>
              </a:rPr>
              <a:t> </a:t>
            </a:r>
            <a:fld id="{A8721096-7545-41F5-A2C3-9C8D98561409}" type="slidenum">
              <a:rPr lang="de-DE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91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8775" y="90488"/>
            <a:ext cx="2130425" cy="59150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90488"/>
            <a:ext cx="6242050" cy="5915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r>
              <a:rPr lang="de-DE">
                <a:solidFill>
                  <a:srgbClr val="000000"/>
                </a:solidFill>
                <a:sym typeface="Wingdings" pitchFamily="2" charset="2"/>
              </a:rPr>
              <a:t></a:t>
            </a:r>
            <a:r>
              <a:rPr lang="de-DE">
                <a:solidFill>
                  <a:srgbClr val="000000"/>
                </a:solidFill>
              </a:rPr>
              <a:t> </a:t>
            </a:r>
            <a:fld id="{830C1E79-5F70-4A79-8F7D-933CC44CF2DA}" type="slidenum">
              <a:rPr lang="de-DE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77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219075" y="6408738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de-DE">
                <a:solidFill>
                  <a:srgbClr val="000000"/>
                </a:solidFill>
                <a:ea typeface="ＭＳ Ｐゴシック" pitchFamily="34" charset="-128"/>
              </a:rPr>
              <a:t>Page </a:t>
            </a:r>
            <a:fld id="{D2CC7C27-E93B-48BC-8366-3617134B8052}" type="slidenum">
              <a:rPr lang="de-DE">
                <a:solidFill>
                  <a:srgbClr val="000000"/>
                </a:solidFill>
                <a:ea typeface="ＭＳ Ｐゴシック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 bwMode="gray">
          <a:xfrm>
            <a:off x="314325" y="1614488"/>
            <a:ext cx="8524875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Click</a:t>
            </a:r>
          </a:p>
          <a:p>
            <a:pPr lvl="1"/>
            <a:r>
              <a:rPr lang="de-DE"/>
              <a:t>Level 1</a:t>
            </a:r>
          </a:p>
          <a:p>
            <a:pPr lvl="2"/>
            <a:r>
              <a:rPr lang="de-DE"/>
              <a:t>SubL2</a:t>
            </a:r>
          </a:p>
          <a:p>
            <a:pPr lvl="3"/>
            <a:r>
              <a:rPr lang="de-DE"/>
              <a:t>SubL3</a:t>
            </a:r>
          </a:p>
        </p:txBody>
      </p:sp>
      <p:pic>
        <p:nvPicPr>
          <p:cNvPr id="3076" name="Picture 14" descr="bv-powerpoint-bg2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816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+mj-lt"/>
          <a:ea typeface="ＭＳ Ｐゴシック" pitchFamily="34" charset="-128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pitchFamily="-110" charset="0"/>
          <a:ea typeface="ＭＳ Ｐゴシック" pitchFamily="34" charset="-128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pitchFamily="-110" charset="0"/>
          <a:ea typeface="ＭＳ Ｐゴシック" pitchFamily="34" charset="-128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pitchFamily="-110" charset="0"/>
          <a:ea typeface="ＭＳ Ｐゴシック" pitchFamily="34" charset="-128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pitchFamily="-110" charset="0"/>
          <a:ea typeface="ＭＳ Ｐゴシック" pitchFamily="34" charset="-128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pitchFamily="-110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pitchFamily="-110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pitchFamily="-110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pitchFamily="-110" charset="0"/>
        </a:defRPr>
      </a:lvl9pPr>
    </p:titleStyle>
    <p:bodyStyle>
      <a:lvl1pPr marL="190500" indent="-190500" algn="l" rtl="0" eaLnBrk="0" fontAlgn="base" hangingPunct="0">
        <a:spcBef>
          <a:spcPct val="60000"/>
        </a:spcBef>
        <a:spcAft>
          <a:spcPct val="0"/>
        </a:spcAft>
        <a:buClr>
          <a:srgbClr val="002146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1pPr>
      <a:lvl2pPr marL="381000" indent="-188913" algn="l" rtl="0" eaLnBrk="0" fontAlgn="base" hangingPunct="0">
        <a:spcBef>
          <a:spcPct val="30000"/>
        </a:spcBef>
        <a:spcAft>
          <a:spcPct val="0"/>
        </a:spcAft>
        <a:buClr>
          <a:srgbClr val="002146"/>
        </a:buClr>
        <a:buChar char="-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561975" indent="-179388" algn="l" rtl="0" eaLnBrk="0" fontAlgn="base" hangingPunct="0">
        <a:spcBef>
          <a:spcPct val="30000"/>
        </a:spcBef>
        <a:spcAft>
          <a:spcPct val="0"/>
        </a:spcAft>
        <a:buClr>
          <a:srgbClr val="002146"/>
        </a:buClr>
        <a:buChar char="-"/>
        <a:defRPr sz="1600">
          <a:solidFill>
            <a:schemeClr val="tx1"/>
          </a:solidFill>
          <a:latin typeface="+mn-lt"/>
          <a:ea typeface="ＭＳ Ｐゴシック" pitchFamily="-110" charset="-128"/>
        </a:defRPr>
      </a:lvl3pPr>
      <a:lvl4pPr marL="768350" indent="-204788" algn="l" rtl="0" eaLnBrk="0" fontAlgn="base" hangingPunct="0">
        <a:spcBef>
          <a:spcPct val="30000"/>
        </a:spcBef>
        <a:spcAft>
          <a:spcPct val="0"/>
        </a:spcAft>
        <a:buClr>
          <a:srgbClr val="002146"/>
        </a:buClr>
        <a:buChar char="-"/>
        <a:defRPr sz="1600">
          <a:solidFill>
            <a:schemeClr val="tx1"/>
          </a:solidFill>
          <a:latin typeface="+mn-lt"/>
          <a:ea typeface="ＭＳ Ｐゴシック" pitchFamily="-110" charset="-128"/>
        </a:defRPr>
      </a:lvl4pPr>
      <a:lvl5pPr marL="1050925" indent="-16827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1508125" indent="-168275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-110" charset="2"/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6pPr>
      <a:lvl7pPr marL="1965325" indent="-168275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-110" charset="2"/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7pPr>
      <a:lvl8pPr marL="2422525" indent="-168275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-110" charset="2"/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8pPr>
      <a:lvl9pPr marL="2879725" indent="-168275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-110" charset="2"/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library.harvard.edu/services-tools/washington-post" TargetMode="External"/><Relationship Id="rId3" Type="http://schemas.openxmlformats.org/officeDocument/2006/relationships/hyperlink" Target="https://learning-oreilly-com.ezp-prod1.hul.harvard.edu/home/" TargetMode="External"/><Relationship Id="rId7" Type="http://schemas.openxmlformats.org/officeDocument/2006/relationships/hyperlink" Target="https://library.harvard.edu/services-tools/wall-street-journal" TargetMode="External"/><Relationship Id="rId2" Type="http://schemas.openxmlformats.org/officeDocument/2006/relationships/hyperlink" Target="https://guides.library.harvard.edu/hks/science_technology_polic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brary.harvard.edu/services-tools/new-york-times" TargetMode="External"/><Relationship Id="rId5" Type="http://schemas.openxmlformats.org/officeDocument/2006/relationships/hyperlink" Target="https://huit.harvard.edu/tools-and-services" TargetMode="External"/><Relationship Id="rId4" Type="http://schemas.openxmlformats.org/officeDocument/2006/relationships/hyperlink" Target="https://library.harvard.edu/services-tools/harvard-business-review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4" y="7938"/>
            <a:ext cx="6924675" cy="754062"/>
          </a:xfrm>
        </p:spPr>
        <p:txBody>
          <a:bodyPr/>
          <a:lstStyle/>
          <a:p>
            <a:r>
              <a:rPr lang="en-US" dirty="0"/>
              <a:t>CSCI-E104 Advanced Deep Learning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fld id="{B8D31796-BDC9-4D3D-B6F3-974477A16374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de-DE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006600"/>
            <a:ext cx="1828800" cy="18288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57200" y="4191000"/>
            <a:ext cx="8305800" cy="75406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  <a:ea typeface="ＭＳ Ｐゴシック" pitchFamily="34" charset="-128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  <a:ea typeface="ＭＳ Ｐゴシック" pitchFamily="34" charset="-128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  <a:ea typeface="ＭＳ Ｐゴシック" pitchFamily="34" charset="-128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  <a:ea typeface="ＭＳ Ｐゴシック" pitchFamily="34" charset="-128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</a:defRPr>
            </a:lvl9pPr>
          </a:lstStyle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4C4A3-A2E5-42F8-24F6-5A290DEC0393}"/>
              </a:ext>
            </a:extLst>
          </p:cNvPr>
          <p:cNvSpPr txBox="1"/>
          <p:nvPr/>
        </p:nvSpPr>
        <p:spPr>
          <a:xfrm>
            <a:off x="1562100" y="4406453"/>
            <a:ext cx="52577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Lab 05: Stable Diffusion</a:t>
            </a:r>
          </a:p>
          <a:p>
            <a:pPr algn="ctr"/>
            <a:r>
              <a:rPr lang="en-US" sz="3200" dirty="0">
                <a:solidFill>
                  <a:srgbClr val="0070C0"/>
                </a:solidFill>
              </a:rPr>
              <a:t>Lakshmi </a:t>
            </a:r>
            <a:r>
              <a:rPr lang="en-US" sz="3200" dirty="0" err="1">
                <a:solidFill>
                  <a:srgbClr val="0070C0"/>
                </a:solidFill>
              </a:rPr>
              <a:t>Umarale</a:t>
            </a:r>
            <a:endParaRPr lang="en-US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398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24"/>
          <p:cNvSpPr txBox="1">
            <a:spLocks noChangeArrowheads="1"/>
          </p:cNvSpPr>
          <p:nvPr/>
        </p:nvSpPr>
        <p:spPr bwMode="auto">
          <a:xfrm>
            <a:off x="914400" y="685800"/>
            <a:ext cx="7362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072C54"/>
                </a:solidFill>
              </a:rPr>
              <a:t>CSCI-E104, 02-28-2026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gray">
          <a:xfrm>
            <a:off x="1454150" y="2394355"/>
            <a:ext cx="6775450" cy="1110845"/>
          </a:xfrm>
          <a:prstGeom prst="rect">
            <a:avLst/>
          </a:prstGeom>
          <a:noFill/>
          <a:ln w="12700">
            <a:solidFill>
              <a:srgbClr val="C0C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252000" tIns="72000" rIns="72000" bIns="72000" anchor="ctr"/>
          <a:lstStyle/>
          <a:p>
            <a:pPr fontAlgn="base">
              <a:spcBef>
                <a:spcPct val="25000"/>
              </a:spcBef>
              <a:spcAft>
                <a:spcPct val="0"/>
              </a:spcAft>
            </a:pPr>
            <a:endParaRPr lang="en-US" sz="2400" noProof="1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gray">
          <a:xfrm>
            <a:off x="1454150" y="3799121"/>
            <a:ext cx="6775450" cy="574675"/>
          </a:xfrm>
          <a:prstGeom prst="rect">
            <a:avLst/>
          </a:prstGeom>
          <a:noFill/>
          <a:ln w="12700">
            <a:solidFill>
              <a:srgbClr val="C0C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252000" tIns="72000" rIns="72000" bIns="72000" anchor="ctr"/>
          <a:lstStyle/>
          <a:p>
            <a:pPr fontAlgn="base">
              <a:spcBef>
                <a:spcPct val="25000"/>
              </a:spcBef>
              <a:spcAft>
                <a:spcPct val="0"/>
              </a:spcAft>
            </a:pPr>
            <a:endParaRPr lang="en-US" sz="2400" noProof="1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17413" name="Rectangle 8"/>
          <p:cNvSpPr>
            <a:spLocks noChangeArrowheads="1"/>
          </p:cNvSpPr>
          <p:nvPr/>
        </p:nvSpPr>
        <p:spPr bwMode="gray">
          <a:xfrm>
            <a:off x="1066800" y="2394355"/>
            <a:ext cx="390525" cy="1110845"/>
          </a:xfrm>
          <a:prstGeom prst="rect">
            <a:avLst/>
          </a:prstGeom>
          <a:solidFill>
            <a:srgbClr val="F0F0F0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noProof="1">
                <a:solidFill>
                  <a:srgbClr val="D6001F"/>
                </a:solidFill>
                <a:ea typeface="ＭＳ Ｐゴシック" pitchFamily="34" charset="-128"/>
              </a:rPr>
              <a:t>1</a:t>
            </a:r>
          </a:p>
        </p:txBody>
      </p:sp>
      <p:sp>
        <p:nvSpPr>
          <p:cNvPr id="17414" name="Rectangle 9"/>
          <p:cNvSpPr>
            <a:spLocks noChangeArrowheads="1"/>
          </p:cNvSpPr>
          <p:nvPr/>
        </p:nvSpPr>
        <p:spPr bwMode="gray">
          <a:xfrm>
            <a:off x="1066800" y="3799121"/>
            <a:ext cx="390525" cy="574675"/>
          </a:xfrm>
          <a:prstGeom prst="rect">
            <a:avLst/>
          </a:prstGeom>
          <a:solidFill>
            <a:srgbClr val="F0F0F0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noProof="1">
                <a:solidFill>
                  <a:srgbClr val="D3001E"/>
                </a:solidFill>
                <a:ea typeface="ＭＳ Ｐゴシック" pitchFamily="34" charset="-128"/>
              </a:rPr>
              <a:t>2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gray">
          <a:xfrm>
            <a:off x="1109663" y="1143000"/>
            <a:ext cx="65214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defTabSz="80168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noProof="1">
                <a:solidFill>
                  <a:srgbClr val="000000"/>
                </a:solidFill>
                <a:ea typeface="ＭＳ Ｐゴシック" pitchFamily="34" charset="-128"/>
              </a:rPr>
              <a:t>Lab Objectives …</a:t>
            </a:r>
          </a:p>
        </p:txBody>
      </p:sp>
      <p:sp>
        <p:nvSpPr>
          <p:cNvPr id="17418" name="Footer Placeholder 2"/>
          <p:cNvSpPr txBox="1">
            <a:spLocks/>
          </p:cNvSpPr>
          <p:nvPr/>
        </p:nvSpPr>
        <p:spPr bwMode="auto">
          <a:xfrm>
            <a:off x="7800975" y="6581775"/>
            <a:ext cx="13430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sz="1000" dirty="0">
                <a:solidFill>
                  <a:srgbClr val="000000"/>
                </a:solidFill>
              </a:rPr>
              <a:t>Page </a:t>
            </a:r>
            <a:r>
              <a:rPr lang="de-DE" sz="1000" dirty="0">
                <a:solidFill>
                  <a:srgbClr val="000000"/>
                </a:solidFill>
                <a:sym typeface="Wingdings" pitchFamily="2" charset="2"/>
              </a:rPr>
              <a:t>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fld id="{5001715B-2DF1-4CDD-AFC4-F224C4D031E5}" type="slidenum">
              <a:rPr lang="de-DE" sz="1000">
                <a:solidFill>
                  <a:srgbClr val="000000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5830CD-A024-9B4A-B0D5-91CC5C676ED2}"/>
              </a:ext>
            </a:extLst>
          </p:cNvPr>
          <p:cNvSpPr/>
          <p:nvPr/>
        </p:nvSpPr>
        <p:spPr>
          <a:xfrm>
            <a:off x="1527484" y="2657326"/>
            <a:ext cx="647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lang="en-US" sz="2400" noProof="1">
                <a:solidFill>
                  <a:srgbClr val="000000"/>
                </a:solidFill>
                <a:ea typeface="ＭＳ Ｐゴシック" pitchFamily="34" charset="-128"/>
              </a:rPr>
              <a:t>Stable Diffusion Notebook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FF726A-7CFF-154A-9363-4D1478B07A9A}"/>
              </a:ext>
            </a:extLst>
          </p:cNvPr>
          <p:cNvSpPr/>
          <p:nvPr/>
        </p:nvSpPr>
        <p:spPr>
          <a:xfrm>
            <a:off x="1524000" y="3810000"/>
            <a:ext cx="6248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lang="en-US" sz="2400" noProof="1">
                <a:solidFill>
                  <a:srgbClr val="000000"/>
                </a:solidFill>
                <a:ea typeface="ＭＳ Ｐゴシック" pitchFamily="34" charset="-128"/>
              </a:rPr>
              <a:t>Homework Review</a:t>
            </a:r>
          </a:p>
        </p:txBody>
      </p:sp>
    </p:spTree>
    <p:extLst>
      <p:ext uri="{BB962C8B-B14F-4D97-AF65-F5344CB8AC3E}">
        <p14:creationId xmlns:p14="http://schemas.microsoft.com/office/powerpoint/2010/main" val="72659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EE5C-3007-514E-897A-9593A9048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90488"/>
            <a:ext cx="7305675" cy="754062"/>
          </a:xfrm>
        </p:spPr>
        <p:txBody>
          <a:bodyPr/>
          <a:lstStyle/>
          <a:p>
            <a:r>
              <a:rPr lang="en-US" dirty="0"/>
              <a:t>What is Stable Diffusion?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6E6F9-8438-E843-98B3-CB7F3870BF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fld id="{B8D31796-BDC9-4D3D-B6F3-974477A16374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DF2929-F223-B747-9159-9187E92C8794}"/>
              </a:ext>
            </a:extLst>
          </p:cNvPr>
          <p:cNvSpPr txBox="1"/>
          <p:nvPr/>
        </p:nvSpPr>
        <p:spPr>
          <a:xfrm>
            <a:off x="762000" y="1295400"/>
            <a:ext cx="6857999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68275" indent="-168275">
              <a:buFont typeface="Arial" panose="020B0604020202020204" pitchFamily="34" charset="0"/>
              <a:buChar char="•"/>
              <a:defRPr sz="1400"/>
            </a:lvl1pPr>
          </a:lstStyle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Stable Diffusion is a Latent Diffusion Model capable of generating high-resolution images and art forms from text and image prompts. It originally launched in 2022.</a:t>
            </a:r>
          </a:p>
          <a:p>
            <a:pPr algn="l"/>
            <a:endParaRPr lang="en-US" sz="2400" dirty="0">
              <a:solidFill>
                <a:srgbClr val="000000"/>
              </a:solidFill>
              <a:latin typeface="Helvetica Neue" panose="02000503000000020004" pitchFamily="2" charset="0"/>
            </a:endParaRPr>
          </a:p>
          <a:p>
            <a:pPr marL="0" indent="0" algn="l"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Instead of operating in the high-dimensional image space, it first compresses the image into the latent space. The latent space is 48 times smaller, so it reaps the benefit of crunching a lot fewer numbers. That’s why it’s a lot faster.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08142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EE5C-3007-514E-897A-9593A9048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90488"/>
            <a:ext cx="7305675" cy="754062"/>
          </a:xfrm>
        </p:spPr>
        <p:txBody>
          <a:bodyPr/>
          <a:lstStyle/>
          <a:p>
            <a:r>
              <a:rPr lang="en-US" dirty="0"/>
              <a:t>Architecture of Stable Diffusion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6E6F9-8438-E843-98B3-CB7F3870BF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fld id="{B8D31796-BDC9-4D3D-B6F3-974477A16374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de-DE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C5B09B-9270-8C23-A5DE-0930280E5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" y="810324"/>
            <a:ext cx="7772400" cy="2699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BE7181-6AB9-7AD3-4F09-B809BEF72CB2}"/>
              </a:ext>
            </a:extLst>
          </p:cNvPr>
          <p:cNvSpPr txBox="1"/>
          <p:nvPr/>
        </p:nvSpPr>
        <p:spPr>
          <a:xfrm>
            <a:off x="822961" y="3628191"/>
            <a:ext cx="83057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There are three main components in latent diffusion-</a:t>
            </a:r>
          </a:p>
          <a:p>
            <a:pPr algn="l"/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/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1. 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Autoencoder (Variational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AutoEncoder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) - converts the image into a low dimensional latent representation to serve as an input to the U-Net model, the decoder transforms the latent representation back into an image.</a:t>
            </a:r>
          </a:p>
          <a:p>
            <a:pPr algn="l"/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/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2.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U-Net – The encoder compresses an image into a lower-resolution image, while the decoder decodes this lower-resolution image</a:t>
            </a:r>
          </a:p>
          <a:p>
            <a:pPr algn="l"/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/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3.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An optional text encoder - is responsible for transforming the text input prompt into an embedding space that the U-Net can understand. </a:t>
            </a:r>
          </a:p>
        </p:txBody>
      </p:sp>
    </p:spTree>
    <p:extLst>
      <p:ext uri="{BB962C8B-B14F-4D97-AF65-F5344CB8AC3E}">
        <p14:creationId xmlns:p14="http://schemas.microsoft.com/office/powerpoint/2010/main" val="2343830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EE5C-3007-514E-897A-9593A9048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90488"/>
            <a:ext cx="7305675" cy="754062"/>
          </a:xfrm>
        </p:spPr>
        <p:txBody>
          <a:bodyPr/>
          <a:lstStyle/>
          <a:p>
            <a:r>
              <a:rPr lang="en-US" dirty="0"/>
              <a:t>What can Stable Diffusion do?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6E6F9-8438-E843-98B3-CB7F3870BF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fld id="{B8D31796-BDC9-4D3D-B6F3-974477A16374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FD314-3C24-1E4D-847B-012C4B6B8817}"/>
              </a:ext>
            </a:extLst>
          </p:cNvPr>
          <p:cNvSpPr txBox="1"/>
          <p:nvPr/>
        </p:nvSpPr>
        <p:spPr>
          <a:xfrm>
            <a:off x="219074" y="819150"/>
            <a:ext cx="86106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Its capabilities include text-to-image, image-to-image, graphic artwork, image editing, and video creation, etc.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Text-to-image generation</a:t>
            </a:r>
            <a:endParaRPr lang="en-US" b="0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This is the most common way people use Stable Diffusion. Stable Diffusion generates an image using a textual prompt. 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Image-to-image generation</a:t>
            </a:r>
            <a:endParaRPr lang="en-US" b="0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Using an input image and text prompt, you can create images based on an input image. A typical case would be to use a sketch and a suitable prompt.</a:t>
            </a:r>
          </a:p>
        </p:txBody>
      </p:sp>
    </p:spTree>
    <p:extLst>
      <p:ext uri="{BB962C8B-B14F-4D97-AF65-F5344CB8AC3E}">
        <p14:creationId xmlns:p14="http://schemas.microsoft.com/office/powerpoint/2010/main" val="4107099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76400"/>
            <a:ext cx="7162799" cy="35052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Please refer to Canvas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fld id="{B8D31796-BDC9-4D3D-B6F3-974477A16374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698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1000" y="914400"/>
            <a:ext cx="8143875" cy="5638233"/>
          </a:xfrm>
        </p:spPr>
        <p:txBody>
          <a:bodyPr/>
          <a:lstStyle/>
          <a:p>
            <a:pPr marL="342900" indent="-342900" algn="l">
              <a:buFont typeface="+mj-lt"/>
              <a:buAutoNum type="arabicPeriod"/>
            </a:pPr>
            <a:r>
              <a:rPr lang="en-US" sz="1600" i="0" u="none" strike="noStrike" dirty="0">
                <a:solidFill>
                  <a:srgbClr val="222222"/>
                </a:solidFill>
                <a:effectLst/>
                <a:hlinkClick r:id="rId2"/>
              </a:rPr>
              <a:t>https://guides.library.harvard.edu/hks/science_technology_policy</a:t>
            </a:r>
            <a:endParaRPr lang="en-US" sz="1600" i="0" dirty="0">
              <a:solidFill>
                <a:srgbClr val="222222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600" i="0" dirty="0">
                <a:solidFill>
                  <a:srgbClr val="222222"/>
                </a:solidFill>
                <a:effectLst/>
              </a:rPr>
              <a:t>Besides the above, here are some other links of interest ( and many many more) where you get a free subscription through Harvard Key: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i="0" dirty="0" err="1">
                <a:solidFill>
                  <a:srgbClr val="222222"/>
                </a:solidFill>
                <a:effectLst/>
              </a:rPr>
              <a:t>OReilley</a:t>
            </a:r>
            <a:r>
              <a:rPr lang="en-US" sz="1600" i="0" dirty="0">
                <a:solidFill>
                  <a:srgbClr val="222222"/>
                </a:solidFill>
                <a:effectLst/>
              </a:rPr>
              <a:t> Learning Platform:</a:t>
            </a:r>
            <a:br>
              <a:rPr lang="en-US" sz="1600" i="0" dirty="0">
                <a:solidFill>
                  <a:srgbClr val="222222"/>
                </a:solidFill>
                <a:effectLst/>
              </a:rPr>
            </a:br>
            <a:r>
              <a:rPr lang="en-US" sz="1600" i="0" u="none" strike="noStrike" dirty="0">
                <a:solidFill>
                  <a:srgbClr val="222222"/>
                </a:solidFill>
                <a:effectLst/>
                <a:hlinkClick r:id="rId3"/>
              </a:rPr>
              <a:t>https://learning-oreilly-com.ezp-prod1.hul.harvard.edu/home/</a:t>
            </a:r>
            <a:endParaRPr lang="en-US" sz="1600" i="0" dirty="0">
              <a:solidFill>
                <a:srgbClr val="222222"/>
              </a:solidFill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i="0" dirty="0">
                <a:solidFill>
                  <a:srgbClr val="222222"/>
                </a:solidFill>
                <a:effectLst/>
              </a:rPr>
              <a:t>Harvard Business Review :</a:t>
            </a:r>
            <a:br>
              <a:rPr lang="en-US" sz="1600" i="0" dirty="0">
                <a:solidFill>
                  <a:srgbClr val="222222"/>
                </a:solidFill>
                <a:effectLst/>
              </a:rPr>
            </a:br>
            <a:r>
              <a:rPr lang="en-US" sz="1600" i="0" u="none" strike="noStrike" dirty="0">
                <a:solidFill>
                  <a:srgbClr val="222222"/>
                </a:solidFill>
                <a:effectLst/>
                <a:hlinkClick r:id="rId4"/>
              </a:rPr>
              <a:t>https://library.harvard.edu/services-tools/harvard-business-review</a:t>
            </a:r>
            <a:endParaRPr lang="en-US" sz="1600" i="0" dirty="0">
              <a:solidFill>
                <a:srgbClr val="222222"/>
              </a:solidFill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i="0" dirty="0">
                <a:solidFill>
                  <a:srgbClr val="222222"/>
                </a:solidFill>
                <a:effectLst/>
              </a:rPr>
              <a:t>Gartner:</a:t>
            </a:r>
            <a:br>
              <a:rPr lang="en-US" sz="1600" i="0" dirty="0">
                <a:solidFill>
                  <a:srgbClr val="222222"/>
                </a:solidFill>
                <a:effectLst/>
              </a:rPr>
            </a:br>
            <a:r>
              <a:rPr lang="en-US" sz="1600" i="0" u="none" strike="noStrike" dirty="0">
                <a:solidFill>
                  <a:srgbClr val="222222"/>
                </a:solidFill>
                <a:effectLst/>
                <a:hlinkClick r:id="rId5"/>
              </a:rPr>
              <a:t>https://huit.harvard.edu/tools-and-services#g</a:t>
            </a:r>
            <a:endParaRPr lang="en-US" sz="1600" i="0" dirty="0">
              <a:solidFill>
                <a:srgbClr val="222222"/>
              </a:solidFill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i="0" dirty="0">
                <a:solidFill>
                  <a:srgbClr val="222222"/>
                </a:solidFill>
                <a:effectLst/>
              </a:rPr>
              <a:t>NYT:</a:t>
            </a:r>
            <a:br>
              <a:rPr lang="en-US" sz="1600" i="0" dirty="0">
                <a:solidFill>
                  <a:srgbClr val="222222"/>
                </a:solidFill>
                <a:effectLst/>
              </a:rPr>
            </a:br>
            <a:r>
              <a:rPr lang="en-US" sz="1600" i="0" u="none" strike="noStrike" dirty="0">
                <a:solidFill>
                  <a:srgbClr val="222222"/>
                </a:solidFill>
                <a:effectLst/>
                <a:hlinkClick r:id="rId6"/>
              </a:rPr>
              <a:t>https://library.harvard.edu/services-tools/new-york-times</a:t>
            </a:r>
            <a:endParaRPr lang="en-US" sz="1600" i="0" dirty="0">
              <a:solidFill>
                <a:srgbClr val="222222"/>
              </a:solidFill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i="0" dirty="0">
                <a:solidFill>
                  <a:srgbClr val="222222"/>
                </a:solidFill>
                <a:effectLst/>
              </a:rPr>
              <a:t>WSJ:</a:t>
            </a:r>
            <a:br>
              <a:rPr lang="en-US" sz="1600" i="0" dirty="0">
                <a:solidFill>
                  <a:srgbClr val="222222"/>
                </a:solidFill>
                <a:effectLst/>
              </a:rPr>
            </a:br>
            <a:r>
              <a:rPr lang="en-US" sz="1600" i="0" u="none" strike="noStrike" dirty="0">
                <a:solidFill>
                  <a:srgbClr val="222222"/>
                </a:solidFill>
                <a:effectLst/>
                <a:hlinkClick r:id="rId7"/>
              </a:rPr>
              <a:t>https://library.harvard.edu/services-tools/wall-street-journal</a:t>
            </a:r>
            <a:endParaRPr lang="en-US" sz="1600" i="0" dirty="0">
              <a:solidFill>
                <a:srgbClr val="222222"/>
              </a:solidFill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i="0" dirty="0">
                <a:solidFill>
                  <a:srgbClr val="222222"/>
                </a:solidFill>
                <a:effectLst/>
              </a:rPr>
              <a:t>Washington Post</a:t>
            </a:r>
            <a:br>
              <a:rPr lang="en-US" sz="1600" i="0" dirty="0">
                <a:solidFill>
                  <a:srgbClr val="222222"/>
                </a:solidFill>
                <a:effectLst/>
              </a:rPr>
            </a:br>
            <a:r>
              <a:rPr lang="en-US" sz="1600" i="0" u="none" strike="noStrike" dirty="0">
                <a:solidFill>
                  <a:srgbClr val="222222"/>
                </a:solidFill>
                <a:effectLst/>
                <a:hlinkClick r:id="rId8"/>
              </a:rPr>
              <a:t>https://library.harvard.edu/services-tools/washington-post</a:t>
            </a:r>
            <a:endParaRPr lang="en-US" sz="1600" i="0" dirty="0">
              <a:solidFill>
                <a:srgbClr val="222222"/>
              </a:solidFill>
              <a:effectLst/>
            </a:endParaRPr>
          </a:p>
          <a:p>
            <a:pPr marL="0" indent="0" algn="l">
              <a:buNone/>
            </a:pPr>
            <a:endParaRPr lang="en-US" sz="1600" i="0" dirty="0">
              <a:solidFill>
                <a:srgbClr val="222222"/>
              </a:solidFill>
              <a:effectLst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US" sz="1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8177B6-332E-5F4C-A449-B6965667F880}"/>
              </a:ext>
            </a:extLst>
          </p:cNvPr>
          <p:cNvSpPr txBox="1">
            <a:spLocks/>
          </p:cNvSpPr>
          <p:nvPr/>
        </p:nvSpPr>
        <p:spPr>
          <a:xfrm>
            <a:off x="457200" y="21771"/>
            <a:ext cx="6696075" cy="75406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  <a:ea typeface="ＭＳ Ｐゴシック" pitchFamily="34" charset="-128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  <a:ea typeface="ＭＳ Ｐゴシック" pitchFamily="34" charset="-128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  <a:ea typeface="ＭＳ Ｐゴシック" pitchFamily="34" charset="-128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  <a:ea typeface="ＭＳ Ｐゴシック" pitchFamily="34" charset="-128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Arial" pitchFamily="-110" charset="0"/>
              </a:defRPr>
            </a:lvl9pPr>
          </a:lstStyle>
          <a:p>
            <a:r>
              <a:rPr lang="en-US" kern="0" noProof="1"/>
              <a:t>Resources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000840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Page </a:t>
            </a:r>
            <a:fld id="{B8D31796-BDC9-4D3D-B6F3-974477A16374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9931" y="385924"/>
            <a:ext cx="820220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arial" charset="0"/>
            </a:endParaRPr>
          </a:p>
          <a:p>
            <a:r>
              <a:rPr lang="en-US" b="1" dirty="0">
                <a:latin typeface="arial" charset="0"/>
              </a:rPr>
              <a:t>Lecture Notes – All lecture notes are very comprehensive, you will find all your homework answers in them </a:t>
            </a:r>
          </a:p>
          <a:p>
            <a:pPr marL="342900" indent="-342900">
              <a:buFont typeface="+mj-lt"/>
              <a:buAutoNum type="arabicPeriod"/>
            </a:pPr>
            <a:endParaRPr lang="en-US" b="1" dirty="0">
              <a:latin typeface="arial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Jonathan Ho, Ajay Jain, Pieter </a:t>
            </a:r>
            <a:r>
              <a:rPr lang="en-US" sz="1600" b="1" dirty="0" err="1">
                <a:effectLst/>
              </a:rPr>
              <a:t>Abbeel</a:t>
            </a:r>
            <a:r>
              <a:rPr lang="en-US" sz="1600" b="1" dirty="0">
                <a:effectLst/>
              </a:rPr>
              <a:t>, “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Denoising Diffusion Probabilistic </a:t>
            </a:r>
            <a:endParaRPr lang="en-US" sz="1600" b="1" dirty="0">
              <a:effectLst/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      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Models</a:t>
            </a:r>
            <a:r>
              <a:rPr lang="en-US" sz="1600" b="1" dirty="0">
                <a:effectLst/>
              </a:rPr>
              <a:t>”, 2020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Alec Radford, Jong </a:t>
            </a:r>
            <a:r>
              <a:rPr lang="en-US" sz="1600" b="1" dirty="0" err="1">
                <a:effectLst/>
              </a:rPr>
              <a:t>Wook</a:t>
            </a:r>
            <a:r>
              <a:rPr lang="en-US" sz="1600" b="1" dirty="0">
                <a:effectLst/>
              </a:rPr>
              <a:t> Kim, Chris </a:t>
            </a:r>
            <a:r>
              <a:rPr lang="en-US" sz="1600" b="1" dirty="0" err="1">
                <a:effectLst/>
              </a:rPr>
              <a:t>Hallacy</a:t>
            </a:r>
            <a:r>
              <a:rPr lang="en-US" sz="1600" b="1" dirty="0">
                <a:effectLst/>
              </a:rPr>
              <a:t>, Aditya Ramesh, Gabriel Goh, </a:t>
            </a:r>
            <a:r>
              <a:rPr lang="en-US" sz="1600" b="1" dirty="0" err="1">
                <a:effectLst/>
              </a:rPr>
              <a:t>Sandhini</a:t>
            </a:r>
            <a:r>
              <a:rPr lang="en-US" sz="1600" b="1" dirty="0">
                <a:effectLst/>
              </a:rPr>
              <a:t> Agarwal, Girish Sastry, Amanda </a:t>
            </a:r>
            <a:r>
              <a:rPr lang="en-US" sz="1600" b="1" dirty="0" err="1">
                <a:effectLst/>
              </a:rPr>
              <a:t>Askell</a:t>
            </a:r>
            <a:r>
              <a:rPr lang="en-US" sz="1600" b="1" dirty="0">
                <a:effectLst/>
              </a:rPr>
              <a:t>, Pamela Mishkin, Jack Clark, Gretchen Krueger, Ilya </a:t>
            </a:r>
            <a:r>
              <a:rPr lang="en-US" sz="1600" b="1" dirty="0" err="1">
                <a:effectLst/>
              </a:rPr>
              <a:t>Sutskever</a:t>
            </a:r>
            <a:r>
              <a:rPr lang="en-US" sz="1600" b="1" dirty="0">
                <a:effectLst/>
              </a:rPr>
              <a:t>,”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Learning Transferable Visual Models From Natural Language Supervision</a:t>
            </a:r>
            <a:r>
              <a:rPr lang="en-US" sz="1600" b="1" dirty="0">
                <a:effectLst/>
              </a:rPr>
              <a:t>”, 2021 </a:t>
            </a:r>
            <a:br>
              <a:rPr lang="en-US" sz="1600" dirty="0">
                <a:effectLst/>
              </a:rPr>
            </a:br>
            <a:endParaRPr lang="en-US" sz="1600" b="1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[3] Robin </a:t>
            </a:r>
            <a:r>
              <a:rPr lang="en-US" sz="1600" b="1" dirty="0" err="1">
                <a:effectLst/>
              </a:rPr>
              <a:t>Rombach</a:t>
            </a:r>
            <a:r>
              <a:rPr lang="en-US" sz="1600" b="1" dirty="0">
                <a:effectLst/>
              </a:rPr>
              <a:t> and Andreas </a:t>
            </a:r>
            <a:r>
              <a:rPr lang="en-US" sz="1600" b="1" dirty="0" err="1">
                <a:effectLst/>
              </a:rPr>
              <a:t>Blattmann</a:t>
            </a:r>
            <a:r>
              <a:rPr lang="en-US" sz="1600" b="1" dirty="0">
                <a:effectLst/>
              </a:rPr>
              <a:t> and Dominik Lorenz and Patrick </a:t>
            </a:r>
            <a:r>
              <a:rPr lang="en-US" sz="1600" b="1" dirty="0" err="1">
                <a:effectLst/>
              </a:rPr>
              <a:t>Esser</a:t>
            </a:r>
            <a:r>
              <a:rPr lang="en-US" sz="1600" b="1" dirty="0">
                <a:effectLst/>
              </a:rPr>
              <a:t> and </a:t>
            </a:r>
            <a:r>
              <a:rPr lang="en-US" sz="1600" b="1" dirty="0" err="1">
                <a:effectLst/>
              </a:rPr>
              <a:t>Björn</a:t>
            </a:r>
            <a:r>
              <a:rPr lang="en-US" sz="1600" b="1" dirty="0">
                <a:effectLst/>
              </a:rPr>
              <a:t> </a:t>
            </a:r>
            <a:r>
              <a:rPr lang="en-US" sz="1600" b="1" dirty="0" err="1">
                <a:effectLst/>
              </a:rPr>
              <a:t>Ommer</a:t>
            </a:r>
            <a:r>
              <a:rPr lang="en-US" sz="1600" b="1" dirty="0">
                <a:effectLst/>
              </a:rPr>
              <a:t>, “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High-Resolution Image Synthesis with Latent Diffusion Models</a:t>
            </a:r>
            <a:r>
              <a:rPr lang="en-US" sz="1600" b="1" dirty="0">
                <a:effectLst/>
              </a:rPr>
              <a:t>”, arXiv:2112.10752, 2021, </a:t>
            </a:r>
            <a:br>
              <a:rPr lang="en-US" sz="1600" dirty="0">
                <a:effectLst/>
              </a:rPr>
            </a:br>
            <a:endParaRPr lang="en-US" sz="1600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FF"/>
                </a:solidFill>
                <a:effectLst/>
                <a:latin typeface="Calibri" panose="020F0502020204030204" pitchFamily="34" charset="0"/>
              </a:rPr>
              <a:t>Richard Zhang</a:t>
            </a:r>
            <a:r>
              <a:rPr lang="en-US" sz="1800" b="1" dirty="0">
                <a:effectLst/>
                <a:latin typeface="Calibri" panose="020F0502020204030204" pitchFamily="34" charset="0"/>
              </a:rPr>
              <a:t>, </a:t>
            </a:r>
            <a:r>
              <a:rPr lang="en-US" sz="1800" b="1" dirty="0">
                <a:solidFill>
                  <a:srgbClr val="0000FF"/>
                </a:solidFill>
                <a:effectLst/>
                <a:latin typeface="Calibri" panose="020F0502020204030204" pitchFamily="34" charset="0"/>
              </a:rPr>
              <a:t>Phillip Isola</a:t>
            </a:r>
            <a:r>
              <a:rPr lang="en-US" sz="1800" b="1" dirty="0">
                <a:effectLst/>
                <a:latin typeface="Calibri" panose="020F0502020204030204" pitchFamily="34" charset="0"/>
              </a:rPr>
              <a:t>, </a:t>
            </a:r>
            <a:r>
              <a:rPr lang="en-US" sz="1800" b="1" dirty="0">
                <a:solidFill>
                  <a:srgbClr val="0000FF"/>
                </a:solidFill>
                <a:effectLst/>
                <a:latin typeface="Calibri" panose="020F0502020204030204" pitchFamily="34" charset="0"/>
              </a:rPr>
              <a:t>Alexei A. </a:t>
            </a:r>
            <a:r>
              <a:rPr lang="en-US" sz="1800" b="1" dirty="0" err="1">
                <a:solidFill>
                  <a:srgbClr val="0000FF"/>
                </a:solidFill>
                <a:effectLst/>
                <a:latin typeface="Calibri" panose="020F0502020204030204" pitchFamily="34" charset="0"/>
              </a:rPr>
              <a:t>Efros</a:t>
            </a:r>
            <a:r>
              <a:rPr lang="en-US" sz="1800" b="1" dirty="0">
                <a:effectLst/>
                <a:latin typeface="Calibri" panose="020F0502020204030204" pitchFamily="34" charset="0"/>
              </a:rPr>
              <a:t>, </a:t>
            </a:r>
            <a:r>
              <a:rPr lang="en-US" sz="1800" b="1" dirty="0">
                <a:solidFill>
                  <a:srgbClr val="0000FF"/>
                </a:solidFill>
                <a:effectLst/>
                <a:latin typeface="Calibri" panose="020F0502020204030204" pitchFamily="34" charset="0"/>
              </a:rPr>
              <a:t>Eli </a:t>
            </a:r>
            <a:r>
              <a:rPr lang="en-US" sz="1800" b="1" dirty="0" err="1">
                <a:solidFill>
                  <a:srgbClr val="0000FF"/>
                </a:solidFill>
                <a:effectLst/>
                <a:latin typeface="Calibri" panose="020F0502020204030204" pitchFamily="34" charset="0"/>
              </a:rPr>
              <a:t>Shechtman</a:t>
            </a:r>
            <a:r>
              <a:rPr lang="en-US" sz="1800" b="1" dirty="0">
                <a:effectLst/>
                <a:latin typeface="Calibri" panose="020F0502020204030204" pitchFamily="34" charset="0"/>
              </a:rPr>
              <a:t>, </a:t>
            </a:r>
            <a:r>
              <a:rPr lang="en-US" sz="1800" b="1" dirty="0">
                <a:solidFill>
                  <a:srgbClr val="0000FF"/>
                </a:solidFill>
                <a:effectLst/>
                <a:latin typeface="Calibri" panose="020F0502020204030204" pitchFamily="34" charset="0"/>
              </a:rPr>
              <a:t>Oliver Wang</a:t>
            </a:r>
            <a:r>
              <a:rPr lang="en-US" sz="1800" b="1" dirty="0">
                <a:effectLst/>
                <a:latin typeface="Calibri" panose="020F0502020204030204" pitchFamily="34" charset="0"/>
              </a:rPr>
              <a:t>, “</a:t>
            </a:r>
            <a:r>
              <a:rPr lang="en-US" sz="1800" b="1" dirty="0">
                <a:solidFill>
                  <a:srgbClr val="0000FF"/>
                </a:solidFill>
                <a:effectLst/>
                <a:latin typeface="Calibri" panose="020F0502020204030204" pitchFamily="34" charset="0"/>
              </a:rPr>
              <a:t>The Unreasonable Effectiveness of Deep Features as a Perceptual Metric</a:t>
            </a:r>
            <a:r>
              <a:rPr lang="en-US" sz="1800" b="1" dirty="0">
                <a:effectLst/>
                <a:latin typeface="Calibri" panose="020F0502020204030204" pitchFamily="34" charset="0"/>
              </a:rPr>
              <a:t>”, CVPR, 2018 </a:t>
            </a:r>
            <a:br>
              <a:rPr lang="en-US" sz="1800" dirty="0">
                <a:effectLst/>
                <a:latin typeface="Calibri" panose="020F0502020204030204" pitchFamily="34" charset="0"/>
              </a:rPr>
            </a:br>
            <a:endParaRPr lang="en-US" sz="1600" b="1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Patrick </a:t>
            </a:r>
            <a:r>
              <a:rPr lang="en-US" sz="1600" b="1" dirty="0" err="1">
                <a:effectLst/>
              </a:rPr>
              <a:t>Esser</a:t>
            </a:r>
            <a:r>
              <a:rPr lang="en-US" sz="1600" b="1" dirty="0">
                <a:effectLst/>
              </a:rPr>
              <a:t>, Robin </a:t>
            </a:r>
            <a:r>
              <a:rPr lang="en-US" sz="1600" b="1" dirty="0" err="1">
                <a:effectLst/>
              </a:rPr>
              <a:t>Rombach</a:t>
            </a:r>
            <a:r>
              <a:rPr lang="en-US" sz="1600" b="1" dirty="0">
                <a:effectLst/>
              </a:rPr>
              <a:t>, </a:t>
            </a:r>
            <a:r>
              <a:rPr lang="en-US" sz="1600" b="1" dirty="0" err="1">
                <a:effectLst/>
              </a:rPr>
              <a:t>Björn</a:t>
            </a:r>
            <a:r>
              <a:rPr lang="en-US" sz="1600" b="1" dirty="0">
                <a:effectLst/>
              </a:rPr>
              <a:t> </a:t>
            </a:r>
            <a:r>
              <a:rPr lang="en-US" sz="1600" b="1" dirty="0" err="1">
                <a:effectLst/>
              </a:rPr>
              <a:t>Ommer</a:t>
            </a:r>
            <a:r>
              <a:rPr lang="en-US" sz="1600" b="1" dirty="0">
                <a:effectLst/>
              </a:rPr>
              <a:t>, “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Taming transformers for high- resolution image synthesis</a:t>
            </a:r>
            <a:r>
              <a:rPr lang="en-US" sz="1600" b="1" dirty="0">
                <a:effectLst/>
              </a:rPr>
              <a:t>”, CVPR, 2020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Some of the images in this lecture come from J. </a:t>
            </a:r>
            <a:r>
              <a:rPr lang="en-US" sz="1600" b="1" dirty="0" err="1">
                <a:effectLst/>
              </a:rPr>
              <a:t>Alammar’s</a:t>
            </a:r>
            <a:r>
              <a:rPr lang="en-US" sz="1600" b="1" dirty="0">
                <a:effectLst/>
              </a:rPr>
              <a:t> blog post: • 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https://</a:t>
            </a:r>
            <a:r>
              <a:rPr lang="en-US" sz="1600" b="1" dirty="0" err="1">
                <a:solidFill>
                  <a:srgbClr val="0000FF"/>
                </a:solidFill>
                <a:effectLst/>
              </a:rPr>
              <a:t>jalammar.github.io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/illustrated-stable-diffusion/ </a:t>
            </a:r>
            <a:endParaRPr lang="en-US" sz="1600" b="1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189450"/>
      </p:ext>
    </p:extLst>
  </p:cSld>
  <p:clrMapOvr>
    <a:masterClrMapping/>
  </p:clrMapOvr>
</p:sld>
</file>

<file path=ppt/theme/theme1.xml><?xml version="1.0" encoding="utf-8"?>
<a:theme xmlns:a="http://schemas.openxmlformats.org/drawingml/2006/main" name="1_T01411_Template_blue_light">
  <a:themeElements>
    <a:clrScheme name="PresentationLoad 1">
      <a:dk1>
        <a:srgbClr val="000000"/>
      </a:dk1>
      <a:lt1>
        <a:srgbClr val="FFFFFF"/>
      </a:lt1>
      <a:dk2>
        <a:srgbClr val="004074"/>
      </a:dk2>
      <a:lt2>
        <a:srgbClr val="FEA501"/>
      </a:lt2>
      <a:accent1>
        <a:srgbClr val="0061B2"/>
      </a:accent1>
      <a:accent2>
        <a:srgbClr val="2A79D0"/>
      </a:accent2>
      <a:accent3>
        <a:srgbClr val="FFFFFF"/>
      </a:accent3>
      <a:accent4>
        <a:srgbClr val="000000"/>
      </a:accent4>
      <a:accent5>
        <a:srgbClr val="AAB7D5"/>
      </a:accent5>
      <a:accent6>
        <a:srgbClr val="256DBC"/>
      </a:accent6>
      <a:hlink>
        <a:srgbClr val="69A2E1"/>
      </a:hlink>
      <a:folHlink>
        <a:srgbClr val="9DC2EB"/>
      </a:folHlink>
    </a:clrScheme>
    <a:fontScheme name="PresentationLoa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hlink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hlink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0" charset="0"/>
          </a:defRPr>
        </a:defPPr>
      </a:lstStyle>
    </a:lnDef>
  </a:objectDefaults>
  <a:extraClrSchemeLst>
    <a:extraClrScheme>
      <a:clrScheme name="PresentationLoad 1">
        <a:dk1>
          <a:srgbClr val="000000"/>
        </a:dk1>
        <a:lt1>
          <a:srgbClr val="FFFFFF"/>
        </a:lt1>
        <a:dk2>
          <a:srgbClr val="004074"/>
        </a:dk2>
        <a:lt2>
          <a:srgbClr val="FEA501"/>
        </a:lt2>
        <a:accent1>
          <a:srgbClr val="0061B2"/>
        </a:accent1>
        <a:accent2>
          <a:srgbClr val="2A79D0"/>
        </a:accent2>
        <a:accent3>
          <a:srgbClr val="FFFFFF"/>
        </a:accent3>
        <a:accent4>
          <a:srgbClr val="000000"/>
        </a:accent4>
        <a:accent5>
          <a:srgbClr val="AAB7D5"/>
        </a:accent5>
        <a:accent6>
          <a:srgbClr val="256DBC"/>
        </a:accent6>
        <a:hlink>
          <a:srgbClr val="69A2E1"/>
        </a:hlink>
        <a:folHlink>
          <a:srgbClr val="9DC2E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Macintosh PowerPoint</Application>
  <PresentationFormat>On-screen Show (4:3)</PresentationFormat>
  <Paragraphs>62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Arial</vt:lpstr>
      <vt:lpstr>Calibri</vt:lpstr>
      <vt:lpstr>Helvetica Neue</vt:lpstr>
      <vt:lpstr>source-serif-pro</vt:lpstr>
      <vt:lpstr>Wingdings</vt:lpstr>
      <vt:lpstr>1_T01411_Template_blue_light</vt:lpstr>
      <vt:lpstr>CSCI-E104 Advanced Deep Learning </vt:lpstr>
      <vt:lpstr>PowerPoint Presentation</vt:lpstr>
      <vt:lpstr>What is Stable Diffusion?</vt:lpstr>
      <vt:lpstr>Architecture of Stable Diffusion</vt:lpstr>
      <vt:lpstr>What can Stable Diffusion do?</vt:lpstr>
      <vt:lpstr>Homework Review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2014-02-10T14:11:09Z</dcterms:created>
  <dcterms:modified xsi:type="dcterms:W3CDTF">2026-02-22T23:32:04Z</dcterms:modified>
</cp:coreProperties>
</file>