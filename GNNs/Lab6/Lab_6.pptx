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73" r:id="rId3"/>
    <p:sldId id="277" r:id="rId4"/>
    <p:sldId id="278" r:id="rId5"/>
    <p:sldId id="274" r:id="rId6"/>
    <p:sldId id="279" r:id="rId7"/>
    <p:sldId id="275" r:id="rId8"/>
    <p:sldId id="283" r:id="rId9"/>
    <p:sldId id="284" r:id="rId10"/>
    <p:sldId id="285" r:id="rId11"/>
    <p:sldId id="276" r:id="rId12"/>
    <p:sldId id="280" r:id="rId13"/>
    <p:sldId id="281" r:id="rId14"/>
    <p:sldId id="282" r:id="rId15"/>
    <p:sldId id="28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ADAF-CE26-17F6-F165-5D9BC9E4F9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F28B10-6822-9EAD-883F-3502AC500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DE920C-0BA5-1A0D-8949-57F44EB59E35}"/>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5" name="Footer Placeholder 4">
            <a:extLst>
              <a:ext uri="{FF2B5EF4-FFF2-40B4-BE49-F238E27FC236}">
                <a16:creationId xmlns:a16="http://schemas.microsoft.com/office/drawing/2014/main" id="{8FBE0736-95D7-3343-BF6D-943E7867F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88AC40-E88F-498F-0BDE-40714E44419F}"/>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2087730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6999A-1088-88BA-A1F9-8DAFE7D2C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9D593D-4BC5-410A-9AE1-CAFC5ECC6C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C1958-7354-97CA-343B-32774FA53CD8}"/>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5" name="Footer Placeholder 4">
            <a:extLst>
              <a:ext uri="{FF2B5EF4-FFF2-40B4-BE49-F238E27FC236}">
                <a16:creationId xmlns:a16="http://schemas.microsoft.com/office/drawing/2014/main" id="{DB3FD892-3D31-6227-438A-BE2E33EBC7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35614-0E50-7D5A-F745-8E2043E8DB12}"/>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2532761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157FA-59B3-DF0F-45B7-8596917E4F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DB9D7C-A8D5-B98C-A090-8D0A9BDD23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CF4F87-3AB6-DBAB-564D-6E7EA5B62E58}"/>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5" name="Footer Placeholder 4">
            <a:extLst>
              <a:ext uri="{FF2B5EF4-FFF2-40B4-BE49-F238E27FC236}">
                <a16:creationId xmlns:a16="http://schemas.microsoft.com/office/drawing/2014/main" id="{4EA88285-3D41-09AD-38FA-1AE06A2CB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854914-D1F1-04A9-D069-220337E83492}"/>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86788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65B2-35B6-AE47-BDF3-9DE840A0A6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95F79E-0790-5E10-F8CA-CA31297F79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37A1C4-0C96-B41B-8ED6-756C3650F5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0ACF9D-CE02-247A-0F86-150ACA95AC2B}"/>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6" name="Footer Placeholder 5">
            <a:extLst>
              <a:ext uri="{FF2B5EF4-FFF2-40B4-BE49-F238E27FC236}">
                <a16:creationId xmlns:a16="http://schemas.microsoft.com/office/drawing/2014/main" id="{A492E450-FC2F-D91A-E785-A82B8C70AB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61DDF6-68EB-205A-B73E-960D70526236}"/>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2993377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B27CE-8FCE-D576-CB1B-507C49E124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58D55F-D088-1C0E-90C6-0DEF936156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6A27E8-2178-9EBF-284C-892A16869E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19329C-0AAC-4EAD-54CC-7D0B0764FF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48AAB6-DD50-5850-01C4-D54BD13C30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72986D-51DA-04BB-1345-67ABC5E01D8A}"/>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8" name="Footer Placeholder 7">
            <a:extLst>
              <a:ext uri="{FF2B5EF4-FFF2-40B4-BE49-F238E27FC236}">
                <a16:creationId xmlns:a16="http://schemas.microsoft.com/office/drawing/2014/main" id="{08BB234F-0395-B68E-B8B9-0234880872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6AC337-C1FD-5C27-758F-04C07014A636}"/>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681789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01159-0CD6-A79B-8309-120FC398BA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B783FD-1162-2A08-CA64-745153B83618}"/>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4" name="Footer Placeholder 3">
            <a:extLst>
              <a:ext uri="{FF2B5EF4-FFF2-40B4-BE49-F238E27FC236}">
                <a16:creationId xmlns:a16="http://schemas.microsoft.com/office/drawing/2014/main" id="{B5A06923-16F7-7BC6-3D62-1D5F1DF8F1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99EE09-6A46-7190-3408-2B8F3E9E4E6F}"/>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1361183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1DC12D-8BE5-F1E7-3CAB-58504ACD49A4}"/>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3" name="Footer Placeholder 2">
            <a:extLst>
              <a:ext uri="{FF2B5EF4-FFF2-40B4-BE49-F238E27FC236}">
                <a16:creationId xmlns:a16="http://schemas.microsoft.com/office/drawing/2014/main" id="{AF1D70D9-B08A-ECB2-4211-3FB957A7DD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DF242B-3FE7-B8BE-CCD7-27A1F93F8D01}"/>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3350570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ECE7-7CF5-DB67-4631-D4E50FB7E1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9CCE9B-5024-B31D-1438-58EDB6A5AC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510EE4-837C-49ED-9A8D-8610DD4158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096822-EE39-3E0C-131E-176282BED874}"/>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6" name="Footer Placeholder 5">
            <a:extLst>
              <a:ext uri="{FF2B5EF4-FFF2-40B4-BE49-F238E27FC236}">
                <a16:creationId xmlns:a16="http://schemas.microsoft.com/office/drawing/2014/main" id="{79B5D38F-F612-B792-3145-5F7735CDB7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879DE0-0B7B-EB73-EC7B-4A2DD55E560C}"/>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3390864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14914-4148-3826-68E9-5AC85AED3B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CFCA09-1508-3F5B-D18B-9FE9C7C1EF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3F463-1FD5-FC26-A253-A0BE5E3B33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79F144-9389-B2E7-A572-4EF8F56C23EB}"/>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6" name="Footer Placeholder 5">
            <a:extLst>
              <a:ext uri="{FF2B5EF4-FFF2-40B4-BE49-F238E27FC236}">
                <a16:creationId xmlns:a16="http://schemas.microsoft.com/office/drawing/2014/main" id="{B0FD6620-B3BE-9EAA-5E1A-E676A5AE21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3BBC18-992A-23A6-DE7A-488D22FB8A80}"/>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2267193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6676-77B1-F894-7A82-2FE108C94A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069720-1A1E-A0F4-494B-489772B48A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D83529-31D5-812B-8C3F-F1416BFCD8A9}"/>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5" name="Footer Placeholder 4">
            <a:extLst>
              <a:ext uri="{FF2B5EF4-FFF2-40B4-BE49-F238E27FC236}">
                <a16:creationId xmlns:a16="http://schemas.microsoft.com/office/drawing/2014/main" id="{0F2DA2BB-0575-0887-17A1-54795C0B9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53E3A1-53B4-B6A7-8FFD-2BA49228CB95}"/>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850604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5FB19D-8738-7B61-737A-DD263257F5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8028B1-BBAE-6AFA-29F0-0D7ED2E9DF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97D370-1C5A-D4A1-3090-F0B90FC7514A}"/>
              </a:ext>
            </a:extLst>
          </p:cNvPr>
          <p:cNvSpPr>
            <a:spLocks noGrp="1"/>
          </p:cNvSpPr>
          <p:nvPr>
            <p:ph type="dt" sz="half" idx="10"/>
          </p:nvPr>
        </p:nvSpPr>
        <p:spPr/>
        <p:txBody>
          <a:bodyPr/>
          <a:lstStyle/>
          <a:p>
            <a:fld id="{04901C40-3701-46CE-ABE1-99468430D526}" type="datetimeFigureOut">
              <a:rPr lang="en-US" smtClean="0"/>
              <a:t>3/7/2026</a:t>
            </a:fld>
            <a:endParaRPr lang="en-US"/>
          </a:p>
        </p:txBody>
      </p:sp>
      <p:sp>
        <p:nvSpPr>
          <p:cNvPr id="5" name="Footer Placeholder 4">
            <a:extLst>
              <a:ext uri="{FF2B5EF4-FFF2-40B4-BE49-F238E27FC236}">
                <a16:creationId xmlns:a16="http://schemas.microsoft.com/office/drawing/2014/main" id="{CC9484B9-0F43-BC8B-2929-B6B8969DE3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43B8B4-8541-847E-A667-B0F6E92BA26C}"/>
              </a:ext>
            </a:extLst>
          </p:cNvPr>
          <p:cNvSpPr>
            <a:spLocks noGrp="1"/>
          </p:cNvSpPr>
          <p:nvPr>
            <p:ph type="sldNum" sz="quarter" idx="12"/>
          </p:nvPr>
        </p:nvSpPr>
        <p:spPr/>
        <p:txBody>
          <a:bodyPr/>
          <a:lstStyle/>
          <a:p>
            <a:fld id="{4E4372A4-43CC-4348-A5F0-D3EFF1040DA8}" type="slidenum">
              <a:rPr lang="en-US" smtClean="0"/>
              <a:t>‹#›</a:t>
            </a:fld>
            <a:endParaRPr lang="en-US"/>
          </a:p>
        </p:txBody>
      </p:sp>
    </p:spTree>
    <p:extLst>
      <p:ext uri="{BB962C8B-B14F-4D97-AF65-F5344CB8AC3E}">
        <p14:creationId xmlns:p14="http://schemas.microsoft.com/office/powerpoint/2010/main" val="2243385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4B1CFC-8843-3CA1-92F9-4A95EF0758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855D83-2E31-D479-8D5A-1CA400B09E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8C06F8-27DE-A134-B4C6-3F722B99C0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901C40-3701-46CE-ABE1-99468430D526}" type="datetimeFigureOut">
              <a:rPr lang="en-US" smtClean="0"/>
              <a:t>3/7/2026</a:t>
            </a:fld>
            <a:endParaRPr lang="en-US"/>
          </a:p>
        </p:txBody>
      </p:sp>
      <p:sp>
        <p:nvSpPr>
          <p:cNvPr id="5" name="Footer Placeholder 4">
            <a:extLst>
              <a:ext uri="{FF2B5EF4-FFF2-40B4-BE49-F238E27FC236}">
                <a16:creationId xmlns:a16="http://schemas.microsoft.com/office/drawing/2014/main" id="{A1104660-FBE0-2085-13CF-8EB6D07F91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6BDE10-3181-F08B-D6EA-FD644DAD13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4372A4-43CC-4348-A5F0-D3EFF1040DA8}" type="slidenum">
              <a:rPr lang="en-US" smtClean="0"/>
              <a:t>‹#›</a:t>
            </a:fld>
            <a:endParaRPr lang="en-US"/>
          </a:p>
        </p:txBody>
      </p:sp>
    </p:spTree>
    <p:extLst>
      <p:ext uri="{BB962C8B-B14F-4D97-AF65-F5344CB8AC3E}">
        <p14:creationId xmlns:p14="http://schemas.microsoft.com/office/powerpoint/2010/main" val="2326180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pytorch-geometric.readthedocs.io/en/latest/notes/colabs.html" TargetMode="External"/><Relationship Id="rId2" Type="http://schemas.openxmlformats.org/officeDocument/2006/relationships/hyperlink" Target="https://www.datacamp.com/tutorial/comprehensive-introduction-graph-neural-networks-gnns-tutorial" TargetMode="External"/><Relationship Id="rId1" Type="http://schemas.openxmlformats.org/officeDocument/2006/relationships/slideLayout" Target="../slideLayouts/slideLayout1.xml"/><Relationship Id="rId4" Type="http://schemas.openxmlformats.org/officeDocument/2006/relationships/hyperlink" Target="https://pytorch-geometric.readthedocs.io/en/lates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https://medium.com/@rajeev.chandran_61731/understanding-message-passing-frameworks-in-graph-neural-networks-944d9e2a1105" TargetMode="External"/><Relationship Id="rId3" Type="http://schemas.openxmlformats.org/officeDocument/2006/relationships/hyperlink" Target="https://github.com/sw-gong/GNN-Tutorial/blob/master/GNN-tutorial-solution.ipynb" TargetMode="External"/><Relationship Id="rId7" Type="http://schemas.openxmlformats.org/officeDocument/2006/relationships/hyperlink" Target="https://www.kaggle.com/code/iogbonna/introduction-to-graph-neural-network-with-pytorch" TargetMode="External"/><Relationship Id="rId2" Type="http://schemas.openxmlformats.org/officeDocument/2006/relationships/hyperlink" Target="https://pytorch-geometric.readthedocs.io/en/latest/cheatsheet/gnn_cheatsheet.html" TargetMode="External"/><Relationship Id="rId1" Type="http://schemas.openxmlformats.org/officeDocument/2006/relationships/slideLayout" Target="../slideLayouts/slideLayout1.xml"/><Relationship Id="rId6" Type="http://schemas.openxmlformats.org/officeDocument/2006/relationships/hyperlink" Target="https://networkx.org/documentation/stable/auto_examples/drawing/index.html" TargetMode="External"/><Relationship Id="rId5" Type="http://schemas.openxmlformats.org/officeDocument/2006/relationships/hyperlink" Target="https://www.geeksforgeeks.org/what-is-the-difference-between-an-undirected-and-a-directed-graph/" TargetMode="External"/><Relationship Id="rId4" Type="http://schemas.openxmlformats.org/officeDocument/2006/relationships/hyperlink" Target="https://awadrahman.medium.com/hands-on-graph-neural-networks-for-social-network-using-pytorch-30231c130b38"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networkx.org/" TargetMode="External"/><Relationship Id="rId2" Type="http://schemas.openxmlformats.org/officeDocument/2006/relationships/hyperlink" Target="https://en.wikipedia.org/wiki/Petersen_graph" TargetMode="External"/><Relationship Id="rId1" Type="http://schemas.openxmlformats.org/officeDocument/2006/relationships/slideLayout" Target="../slideLayouts/slideLayout1.xml"/><Relationship Id="rId5" Type="http://schemas.openxmlformats.org/officeDocument/2006/relationships/hyperlink" Target="https://pytorch-geometric.readthedocs.io/en/latest/" TargetMode="External"/><Relationship Id="rId4" Type="http://schemas.openxmlformats.org/officeDocument/2006/relationships/hyperlink" Target="https://github.com/networkx/networkx"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2916546" y="639096"/>
            <a:ext cx="8626527" cy="5219837"/>
          </a:xfrm>
        </p:spPr>
        <p:txBody>
          <a:bodyPr>
            <a:normAutofit/>
          </a:bodyPr>
          <a:lstStyle/>
          <a:p>
            <a:pPr algn="l"/>
            <a:r>
              <a:rPr lang="en-US" sz="900" b="0" i="0" dirty="0">
                <a:solidFill>
                  <a:srgbClr val="FFFFFF"/>
                </a:solidFill>
                <a:effectLst/>
                <a:latin typeface="Lato Extended"/>
              </a:rPr>
              <a:t>Final Projects &amp; Presentations</a:t>
            </a:r>
            <a:br>
              <a:rPr lang="en-US" sz="900" b="0" i="0" dirty="0">
                <a:solidFill>
                  <a:srgbClr val="FFFFFF"/>
                </a:solidFill>
                <a:effectLst/>
                <a:latin typeface="Lato Extended"/>
              </a:rPr>
            </a:br>
            <a:r>
              <a:rPr lang="en-US" sz="900" b="0" i="0" dirty="0">
                <a:solidFill>
                  <a:srgbClr val="FFFFFF"/>
                </a:solidFill>
                <a:effectLst/>
                <a:latin typeface="Lato Extended"/>
              </a:rPr>
              <a:t>Final Projects &amp; Presentations</a:t>
            </a:r>
            <a:br>
              <a:rPr lang="en-US" sz="2800" b="1" i="0" dirty="0">
                <a:solidFill>
                  <a:srgbClr val="05192D"/>
                </a:solidFill>
                <a:effectLst/>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TA </a:t>
            </a:r>
            <a:r>
              <a:rPr lang="en-US" sz="2800">
                <a:latin typeface="Calibri" panose="020F0502020204030204" pitchFamily="34" charset="0"/>
                <a:ea typeface="Calibri" panose="020F0502020204030204" pitchFamily="34" charset="0"/>
                <a:cs typeface="Calibri" panose="020F0502020204030204" pitchFamily="34" charset="0"/>
              </a:rPr>
              <a:t>Session 6</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Spring 2026</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spc="-5"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Graph Neural Networks</a:t>
            </a:r>
            <a:br>
              <a:rPr lang="en-US" sz="2800" spc="-5"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2800" spc="-5">
                <a:solidFill>
                  <a:srgbClr val="000000"/>
                </a:solidFill>
                <a:effectLst/>
                <a:latin typeface="Calibri" panose="020F0502020204030204" pitchFamily="34" charset="0"/>
                <a:ea typeface="Calibri" panose="020F0502020204030204" pitchFamily="34" charset="0"/>
                <a:cs typeface="Calibri" panose="020F0502020204030204" pitchFamily="34" charset="0"/>
              </a:rPr>
              <a:t>Claudio Bustamante</a:t>
            </a:r>
            <a:br>
              <a:rPr lang="en-US" sz="2800" spc="-5"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br>
              <a:rPr lang="en-US" sz="2800" i="1" spc="-5"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br>
              <a:rPr lang="en-US" sz="2800" i="1" spc="-5"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br>
              <a:rPr lang="en-US" sz="3200" dirty="0">
                <a:effectLst/>
                <a:latin typeface="Calibri" panose="020F0502020204030204" pitchFamily="34" charset="0"/>
                <a:ea typeface="Calibri" panose="020F0502020204030204" pitchFamily="34" charset="0"/>
                <a:cs typeface="Times New Roman" panose="02020603050405020304" pitchFamily="18" charset="0"/>
              </a:rPr>
            </a:br>
            <a:endParaRPr lang="en-US" sz="32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853727" y="-121332"/>
            <a:ext cx="3553591" cy="6857990"/>
          </a:xfrm>
          <a:prstGeom prst="rect">
            <a:avLst/>
          </a:prstGeom>
        </p:spPr>
      </p:pic>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405;p5">
            <a:extLst>
              <a:ext uri="{FF2B5EF4-FFF2-40B4-BE49-F238E27FC236}">
                <a16:creationId xmlns:a16="http://schemas.microsoft.com/office/drawing/2014/main" id="{CF2261B8-D66D-EA84-4B3C-F7735BA05199}"/>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GNN</a:t>
            </a:r>
            <a:endParaRPr lang="en-US" sz="2800" dirty="0">
              <a:solidFill>
                <a:srgbClr val="0070C0"/>
              </a:solidFill>
            </a:endParaRPr>
          </a:p>
        </p:txBody>
      </p:sp>
      <p:sp>
        <p:nvSpPr>
          <p:cNvPr id="5" name="Title 4">
            <a:extLst>
              <a:ext uri="{FF2B5EF4-FFF2-40B4-BE49-F238E27FC236}">
                <a16:creationId xmlns:a16="http://schemas.microsoft.com/office/drawing/2014/main" id="{989F1BE7-B9B6-2685-2542-2E9B86324B2E}"/>
              </a:ext>
            </a:extLst>
          </p:cNvPr>
          <p:cNvSpPr>
            <a:spLocks noGrp="1"/>
          </p:cNvSpPr>
          <p:nvPr>
            <p:ph type="ctrTitle"/>
          </p:nvPr>
        </p:nvSpPr>
        <p:spPr>
          <a:xfrm>
            <a:off x="254000" y="889002"/>
            <a:ext cx="11785599" cy="4749798"/>
          </a:xfrm>
        </p:spPr>
        <p:txBody>
          <a:bodyPr>
            <a:noAutofit/>
          </a:bodyPr>
          <a:lstStyle/>
          <a:p>
            <a:pPr marL="342900" indent="-342900" algn="l">
              <a:buFont typeface="Arial" panose="020B0604020202020204" pitchFamily="34" charset="0"/>
              <a:buChar char="•"/>
            </a:pPr>
            <a:r>
              <a:rPr lang="en-US" sz="2000" b="0" i="0" dirty="0">
                <a:solidFill>
                  <a:srgbClr val="213147"/>
                </a:solidFill>
                <a:effectLst/>
                <a:latin typeface="+mn-lt"/>
              </a:rPr>
              <a:t>Graph Neural Networks, including what GNNs are, the different types of graph neural networks, and what they're used</a:t>
            </a:r>
            <a:br>
              <a:rPr lang="en-US" sz="2000" b="0" i="0" dirty="0">
                <a:solidFill>
                  <a:srgbClr val="213147"/>
                </a:solidFill>
                <a:effectLst/>
                <a:latin typeface="+mn-lt"/>
              </a:rPr>
            </a:br>
            <a:r>
              <a:rPr lang="en-US" sz="2000" dirty="0">
                <a:highlight>
                  <a:srgbClr val="FFFF00"/>
                </a:highlight>
                <a:latin typeface="+mn-lt"/>
              </a:rPr>
              <a:t>	</a:t>
            </a:r>
            <a:br>
              <a:rPr lang="en-US" sz="2000" b="0" i="0" dirty="0">
                <a:solidFill>
                  <a:srgbClr val="1C1D1F"/>
                </a:solidFill>
                <a:effectLst/>
                <a:latin typeface="+mn-lt"/>
              </a:rPr>
            </a:br>
            <a:r>
              <a:rPr lang="en-US" sz="2000" b="1" i="0" dirty="0">
                <a:solidFill>
                  <a:srgbClr val="05192D"/>
                </a:solidFill>
                <a:effectLst/>
                <a:latin typeface="+mn-lt"/>
              </a:rPr>
              <a:t>What is a Graph?</a:t>
            </a:r>
            <a:br>
              <a:rPr lang="en-US" sz="2000" b="1" i="0" dirty="0">
                <a:solidFill>
                  <a:srgbClr val="05192D"/>
                </a:solidFill>
                <a:effectLst/>
                <a:latin typeface="+mn-lt"/>
              </a:rPr>
            </a:br>
            <a:r>
              <a:rPr lang="en-US" sz="2000" b="0" i="0" dirty="0">
                <a:solidFill>
                  <a:srgbClr val="05192D"/>
                </a:solidFill>
                <a:effectLst/>
                <a:latin typeface="+mn-lt"/>
              </a:rPr>
              <a:t>A Graph is the type of data structure that contains nodes and edges. A node can be a person, place, or thing, and the edges define the relationship between nodes. The edges can be directed and undirected based on directional dependencies. </a:t>
            </a:r>
            <a:br>
              <a:rPr lang="en-US" sz="2000" b="0" i="0" dirty="0">
                <a:solidFill>
                  <a:srgbClr val="05192D"/>
                </a:solidFill>
                <a:effectLst/>
                <a:latin typeface="+mn-lt"/>
              </a:rPr>
            </a:br>
            <a:r>
              <a:rPr lang="en-US" sz="2000" b="0" i="0" dirty="0">
                <a:solidFill>
                  <a:srgbClr val="05192D"/>
                </a:solidFill>
                <a:effectLst/>
                <a:latin typeface="+mn-lt"/>
              </a:rPr>
              <a:t>In the example below, </a:t>
            </a:r>
            <a:r>
              <a:rPr lang="en-US" sz="2000" b="0" i="0" dirty="0">
                <a:solidFill>
                  <a:srgbClr val="05192D"/>
                </a:solidFill>
                <a:effectLst/>
                <a:highlight>
                  <a:srgbClr val="FFFF00"/>
                </a:highlight>
                <a:latin typeface="+mn-lt"/>
              </a:rPr>
              <a:t>the blue circles are nodes, and the arrows are edges</a:t>
            </a:r>
            <a:r>
              <a:rPr lang="en-US" sz="2000" b="0" i="0" dirty="0">
                <a:solidFill>
                  <a:srgbClr val="05192D"/>
                </a:solidFill>
                <a:effectLst/>
                <a:latin typeface="+mn-lt"/>
              </a:rPr>
              <a:t>. The direction of edges defines dependencies between two nodes. </a:t>
            </a:r>
            <a:br>
              <a:rPr lang="en-US" sz="2000" b="0" i="0" dirty="0">
                <a:solidFill>
                  <a:srgbClr val="05192D"/>
                </a:solidFill>
                <a:effectLst/>
                <a:latin typeface="+mn-lt"/>
              </a:rPr>
            </a:br>
            <a:br>
              <a:rPr lang="en-US" sz="2000" b="0" i="0" dirty="0">
                <a:solidFill>
                  <a:srgbClr val="05192D"/>
                </a:solidFill>
                <a:effectLst/>
                <a:latin typeface="+mn-lt"/>
              </a:rPr>
            </a:br>
            <a:br>
              <a:rPr lang="en-US" sz="2000" b="0" i="0" dirty="0">
                <a:solidFill>
                  <a:srgbClr val="05192D"/>
                </a:solidFill>
                <a:effectLst/>
                <a:latin typeface="+mn-lt"/>
              </a:rPr>
            </a:br>
            <a:br>
              <a:rPr lang="en-US" sz="2000" b="0" i="0" dirty="0">
                <a:solidFill>
                  <a:srgbClr val="05192D"/>
                </a:solidFill>
                <a:effectLst/>
                <a:latin typeface="+mn-lt"/>
              </a:rPr>
            </a:br>
            <a:br>
              <a:rPr lang="en-US" sz="2000" b="0" i="0" dirty="0">
                <a:solidFill>
                  <a:srgbClr val="05192D"/>
                </a:solidFill>
                <a:effectLst/>
                <a:latin typeface="+mn-lt"/>
              </a:rPr>
            </a:br>
            <a:br>
              <a:rPr lang="en-US" sz="2000" dirty="0">
                <a:latin typeface="+mn-lt"/>
              </a:rPr>
            </a:br>
            <a:endParaRPr lang="en-US" sz="2000" b="1" dirty="0">
              <a:latin typeface="+mn-lt"/>
            </a:endParaRPr>
          </a:p>
        </p:txBody>
      </p:sp>
      <p:pic>
        <p:nvPicPr>
          <p:cNvPr id="1026" name="Picture 2" descr="dependencies between two nodes">
            <a:extLst>
              <a:ext uri="{FF2B5EF4-FFF2-40B4-BE49-F238E27FC236}">
                <a16:creationId xmlns:a16="http://schemas.microsoft.com/office/drawing/2014/main" id="{CC693AAA-D5E5-F8ED-096A-24BA8C00EC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6084" y="3409950"/>
            <a:ext cx="2228850" cy="222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791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16E2F-5455-06BA-72E7-CEDF646FF97B}"/>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097925E7-3230-7AF4-8C70-06BFD4D8F63A}"/>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Graph Theory</a:t>
            </a:r>
            <a:endParaRPr lang="en-US" sz="2800" dirty="0">
              <a:solidFill>
                <a:srgbClr val="0070C0"/>
              </a:solidFill>
            </a:endParaRPr>
          </a:p>
        </p:txBody>
      </p:sp>
      <p:sp>
        <p:nvSpPr>
          <p:cNvPr id="5" name="Title 4">
            <a:extLst>
              <a:ext uri="{FF2B5EF4-FFF2-40B4-BE49-F238E27FC236}">
                <a16:creationId xmlns:a16="http://schemas.microsoft.com/office/drawing/2014/main" id="{90032FCC-5649-6CAC-EAC6-D2894CCEABCD}"/>
              </a:ext>
            </a:extLst>
          </p:cNvPr>
          <p:cNvSpPr>
            <a:spLocks noGrp="1"/>
          </p:cNvSpPr>
          <p:nvPr>
            <p:ph type="ctrTitle"/>
          </p:nvPr>
        </p:nvSpPr>
        <p:spPr>
          <a:xfrm>
            <a:off x="254000" y="889002"/>
            <a:ext cx="11785599" cy="2336833"/>
          </a:xfrm>
        </p:spPr>
        <p:txBody>
          <a:bodyPr>
            <a:noAutofit/>
          </a:bodyPr>
          <a:lstStyle/>
          <a:p>
            <a:pPr algn="l"/>
            <a:r>
              <a:rPr lang="en-US" sz="2000" dirty="0">
                <a:latin typeface="+mn-lt"/>
              </a:rPr>
              <a:t>Undirected vs. Directed Graphs</a:t>
            </a:r>
            <a:br>
              <a:rPr lang="en-US" sz="2000" b="0" i="0" dirty="0">
                <a:solidFill>
                  <a:srgbClr val="05192D"/>
                </a:solidFill>
                <a:effectLst/>
                <a:latin typeface="+mn-lt"/>
              </a:rPr>
            </a:br>
            <a:br>
              <a:rPr lang="en-US" sz="2000" b="0" i="0" dirty="0">
                <a:solidFill>
                  <a:srgbClr val="05192D"/>
                </a:solidFill>
                <a:effectLst/>
                <a:latin typeface="+mn-lt"/>
              </a:rPr>
            </a:br>
            <a:r>
              <a:rPr lang="en-US" sz="2000" b="0" i="1" dirty="0">
                <a:solidFill>
                  <a:srgbClr val="273239"/>
                </a:solidFill>
                <a:effectLst/>
                <a:latin typeface="+mn-lt"/>
              </a:rPr>
              <a:t>An </a:t>
            </a:r>
            <a:r>
              <a:rPr lang="en-US" sz="2000" b="1" i="1" dirty="0">
                <a:solidFill>
                  <a:srgbClr val="273239"/>
                </a:solidFill>
                <a:effectLst/>
                <a:latin typeface="+mn-lt"/>
              </a:rPr>
              <a:t>undirected graph</a:t>
            </a:r>
            <a:r>
              <a:rPr lang="en-US" sz="2000" b="0" i="1" dirty="0">
                <a:solidFill>
                  <a:srgbClr val="273239"/>
                </a:solidFill>
                <a:effectLst/>
                <a:latin typeface="+mn-lt"/>
              </a:rPr>
              <a:t> is a graph where the </a:t>
            </a:r>
            <a:r>
              <a:rPr lang="en-US" sz="2000" b="0" i="1" dirty="0">
                <a:solidFill>
                  <a:srgbClr val="273239"/>
                </a:solidFill>
                <a:effectLst/>
                <a:highlight>
                  <a:srgbClr val="FFFF00"/>
                </a:highlight>
                <a:latin typeface="+mn-lt"/>
              </a:rPr>
              <a:t>edges do not have a specific direction, </a:t>
            </a:r>
            <a:r>
              <a:rPr lang="en-US" sz="2000" b="0" i="1" dirty="0">
                <a:solidFill>
                  <a:srgbClr val="273239"/>
                </a:solidFill>
                <a:effectLst/>
                <a:latin typeface="+mn-lt"/>
              </a:rPr>
              <a:t>and it is bidirectional in nature it does not have a parent-child relation concept as there is no particular direction.</a:t>
            </a:r>
            <a:br>
              <a:rPr lang="en-US" sz="2000" b="0" i="1" dirty="0">
                <a:solidFill>
                  <a:srgbClr val="273239"/>
                </a:solidFill>
                <a:effectLst/>
                <a:latin typeface="+mn-lt"/>
              </a:rPr>
            </a:br>
            <a:r>
              <a:rPr lang="en-US" sz="2000" b="0" i="1" dirty="0">
                <a:solidFill>
                  <a:srgbClr val="273239"/>
                </a:solidFill>
                <a:effectLst/>
                <a:latin typeface="+mn-lt"/>
              </a:rPr>
              <a:t>A </a:t>
            </a:r>
            <a:r>
              <a:rPr lang="en-US" sz="2000" b="1" i="1" dirty="0">
                <a:solidFill>
                  <a:srgbClr val="273239"/>
                </a:solidFill>
                <a:effectLst/>
                <a:latin typeface="+mn-lt"/>
              </a:rPr>
              <a:t>directed graph</a:t>
            </a:r>
            <a:r>
              <a:rPr lang="en-US" sz="2000" b="0" i="1" dirty="0">
                <a:solidFill>
                  <a:srgbClr val="273239"/>
                </a:solidFill>
                <a:effectLst/>
                <a:latin typeface="+mn-lt"/>
              </a:rPr>
              <a:t> is a graph that is unidirectional in this the </a:t>
            </a:r>
            <a:r>
              <a:rPr lang="en-US" sz="2000" b="0" i="1" dirty="0">
                <a:solidFill>
                  <a:srgbClr val="273239"/>
                </a:solidFill>
                <a:effectLst/>
                <a:highlight>
                  <a:srgbClr val="FFFF00"/>
                </a:highlight>
                <a:latin typeface="+mn-lt"/>
              </a:rPr>
              <a:t>edges have a specific direction</a:t>
            </a:r>
            <a:r>
              <a:rPr lang="en-US" sz="2000" b="0" i="1" dirty="0">
                <a:solidFill>
                  <a:srgbClr val="273239"/>
                </a:solidFill>
                <a:effectLst/>
                <a:latin typeface="+mn-lt"/>
              </a:rPr>
              <a:t>, and the edges have directions specified with them also a directed graph can contain cycles.</a:t>
            </a:r>
            <a:br>
              <a:rPr lang="en-US" sz="2000" b="0" i="0" dirty="0">
                <a:solidFill>
                  <a:srgbClr val="05192D"/>
                </a:solidFill>
                <a:effectLst/>
                <a:latin typeface="+mn-lt"/>
              </a:rPr>
            </a:br>
            <a:br>
              <a:rPr lang="en-US" sz="2000" dirty="0">
                <a:latin typeface="+mn-lt"/>
              </a:rPr>
            </a:br>
            <a:endParaRPr lang="en-US" sz="2000" b="1" dirty="0">
              <a:latin typeface="+mn-lt"/>
            </a:endParaRPr>
          </a:p>
        </p:txBody>
      </p:sp>
      <p:pic>
        <p:nvPicPr>
          <p:cNvPr id="4" name="Picture 3">
            <a:extLst>
              <a:ext uri="{FF2B5EF4-FFF2-40B4-BE49-F238E27FC236}">
                <a16:creationId xmlns:a16="http://schemas.microsoft.com/office/drawing/2014/main" id="{0321F8E3-2563-85A5-DFB9-CCBDEC5962A8}"/>
              </a:ext>
            </a:extLst>
          </p:cNvPr>
          <p:cNvPicPr>
            <a:picLocks noChangeAspect="1"/>
          </p:cNvPicPr>
          <p:nvPr/>
        </p:nvPicPr>
        <p:blipFill>
          <a:blip r:embed="rId2"/>
          <a:stretch>
            <a:fillRect/>
          </a:stretch>
        </p:blipFill>
        <p:spPr>
          <a:xfrm>
            <a:off x="2370667" y="3225835"/>
            <a:ext cx="6036733" cy="3421562"/>
          </a:xfrm>
          <a:prstGeom prst="rect">
            <a:avLst/>
          </a:prstGeom>
        </p:spPr>
      </p:pic>
    </p:spTree>
    <p:extLst>
      <p:ext uri="{BB962C8B-B14F-4D97-AF65-F5344CB8AC3E}">
        <p14:creationId xmlns:p14="http://schemas.microsoft.com/office/powerpoint/2010/main" val="1060977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50D8C-2AF1-5307-DEAF-0B67C5782247}"/>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5AEC3AE1-246A-225A-B0AE-8B866DDC3FB9}"/>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Graph Theory</a:t>
            </a:r>
            <a:endParaRPr lang="en-US" sz="2800" dirty="0">
              <a:solidFill>
                <a:srgbClr val="0070C0"/>
              </a:solidFill>
            </a:endParaRPr>
          </a:p>
        </p:txBody>
      </p:sp>
      <p:sp>
        <p:nvSpPr>
          <p:cNvPr id="5" name="Title 4">
            <a:extLst>
              <a:ext uri="{FF2B5EF4-FFF2-40B4-BE49-F238E27FC236}">
                <a16:creationId xmlns:a16="http://schemas.microsoft.com/office/drawing/2014/main" id="{B3F2EB52-F18F-1B50-3817-1946B7E60F77}"/>
              </a:ext>
            </a:extLst>
          </p:cNvPr>
          <p:cNvSpPr>
            <a:spLocks noGrp="1"/>
          </p:cNvSpPr>
          <p:nvPr>
            <p:ph type="ctrTitle"/>
          </p:nvPr>
        </p:nvSpPr>
        <p:spPr>
          <a:xfrm>
            <a:off x="254000" y="931333"/>
            <a:ext cx="11785599" cy="5497459"/>
          </a:xfrm>
        </p:spPr>
        <p:txBody>
          <a:bodyPr>
            <a:noAutofit/>
          </a:bodyPr>
          <a:lstStyle/>
          <a:p>
            <a:pPr algn="l" fontAlgn="base"/>
            <a:r>
              <a:rPr lang="en-US" sz="2000" b="1" i="0" dirty="0">
                <a:solidFill>
                  <a:srgbClr val="273239"/>
                </a:solidFill>
                <a:effectLst/>
                <a:latin typeface="+mn-lt"/>
              </a:rPr>
              <a:t>Undirected Graphs</a:t>
            </a:r>
            <a:r>
              <a:rPr lang="en-US" sz="2000" b="0" i="0" dirty="0">
                <a:solidFill>
                  <a:srgbClr val="273239"/>
                </a:solidFill>
                <a:effectLst/>
                <a:latin typeface="+mn-lt"/>
              </a:rPr>
              <a:t>: A graph in which edges have no direction, i.e., the edges do not have arrows indicating the direction of traversal. Example: A social network graph where friendships are not directional.</a:t>
            </a:r>
            <a:br>
              <a:rPr lang="en-US" sz="2000" b="0" i="0" dirty="0">
                <a:solidFill>
                  <a:srgbClr val="273239"/>
                </a:solidFill>
                <a:effectLst/>
                <a:latin typeface="+mn-lt"/>
              </a:rPr>
            </a:br>
            <a:br>
              <a:rPr lang="en-US" sz="2000" b="0" i="0" dirty="0">
                <a:solidFill>
                  <a:srgbClr val="273239"/>
                </a:solidFill>
                <a:effectLst/>
                <a:latin typeface="+mn-lt"/>
              </a:rPr>
            </a:br>
            <a:r>
              <a:rPr lang="en-US" sz="2000" b="1" i="0" dirty="0">
                <a:solidFill>
                  <a:srgbClr val="273239"/>
                </a:solidFill>
                <a:effectLst/>
                <a:latin typeface="+mn-lt"/>
              </a:rPr>
              <a:t>Directed Graphs</a:t>
            </a:r>
            <a:r>
              <a:rPr lang="en-US" sz="2000" b="0" i="0" dirty="0">
                <a:solidFill>
                  <a:srgbClr val="273239"/>
                </a:solidFill>
                <a:effectLst/>
                <a:latin typeface="+mn-lt"/>
              </a:rPr>
              <a:t>: A graph in which edges have a direction, i.e., the edges have arrows indicating the direction of traversal. Example: A web page graph where links between pages are directional.</a:t>
            </a:r>
            <a:br>
              <a:rPr lang="en-US" sz="2000" b="0" i="0" dirty="0">
                <a:solidFill>
                  <a:srgbClr val="273239"/>
                </a:solidFill>
                <a:effectLst/>
                <a:latin typeface="+mn-lt"/>
              </a:rPr>
            </a:br>
            <a:br>
              <a:rPr lang="en-US" sz="2000" b="0" i="0" dirty="0">
                <a:solidFill>
                  <a:srgbClr val="273239"/>
                </a:solidFill>
                <a:effectLst/>
                <a:latin typeface="+mn-lt"/>
              </a:rPr>
            </a:br>
            <a:r>
              <a:rPr lang="en-US" sz="2000" b="1" i="0" dirty="0">
                <a:solidFill>
                  <a:srgbClr val="273239"/>
                </a:solidFill>
                <a:effectLst/>
                <a:latin typeface="+mn-lt"/>
              </a:rPr>
              <a:t>Weighted Graphs:</a:t>
            </a:r>
            <a:r>
              <a:rPr lang="en-US" sz="2000" b="0" i="0" dirty="0">
                <a:solidFill>
                  <a:srgbClr val="273239"/>
                </a:solidFill>
                <a:effectLst/>
                <a:latin typeface="+mn-lt"/>
              </a:rPr>
              <a:t> A graph in which edges have weights or costs associated with them. Example: A road network graph where the weights can </a:t>
            </a:r>
            <a:r>
              <a:rPr lang="en-US" sz="2000" b="0" i="0" dirty="0">
                <a:solidFill>
                  <a:srgbClr val="273239"/>
                </a:solidFill>
                <a:effectLst/>
                <a:highlight>
                  <a:srgbClr val="FFFF00"/>
                </a:highlight>
                <a:latin typeface="+mn-lt"/>
              </a:rPr>
              <a:t>represent the distance between two cities.</a:t>
            </a:r>
            <a:br>
              <a:rPr lang="en-US" sz="2000" b="0" i="0" dirty="0">
                <a:solidFill>
                  <a:srgbClr val="273239"/>
                </a:solidFill>
                <a:effectLst/>
                <a:latin typeface="+mn-lt"/>
              </a:rPr>
            </a:br>
            <a:br>
              <a:rPr lang="en-US" sz="2000" b="0" i="0" dirty="0">
                <a:solidFill>
                  <a:srgbClr val="273239"/>
                </a:solidFill>
                <a:effectLst/>
                <a:latin typeface="+mn-lt"/>
              </a:rPr>
            </a:br>
            <a:r>
              <a:rPr lang="en-US" sz="2000" b="1" i="0" dirty="0">
                <a:solidFill>
                  <a:srgbClr val="273239"/>
                </a:solidFill>
                <a:effectLst/>
                <a:latin typeface="+mn-lt"/>
              </a:rPr>
              <a:t>Unweighted Graph</a:t>
            </a:r>
            <a:r>
              <a:rPr lang="en-US" sz="2000" b="0" i="0" dirty="0">
                <a:solidFill>
                  <a:srgbClr val="273239"/>
                </a:solidFill>
                <a:effectLst/>
                <a:latin typeface="+mn-lt"/>
              </a:rPr>
              <a:t>s: A graph in which edges have no weights or costs associated with them. Example: A social network graph where the </a:t>
            </a:r>
            <a:r>
              <a:rPr lang="en-US" sz="2000" b="0" i="0" dirty="0">
                <a:solidFill>
                  <a:srgbClr val="273239"/>
                </a:solidFill>
                <a:effectLst/>
                <a:highlight>
                  <a:srgbClr val="FFFF00"/>
                </a:highlight>
                <a:latin typeface="+mn-lt"/>
              </a:rPr>
              <a:t>edges represent friendships.</a:t>
            </a:r>
            <a:br>
              <a:rPr lang="en-US" sz="2000" b="0" i="0" dirty="0">
                <a:solidFill>
                  <a:srgbClr val="273239"/>
                </a:solidFill>
                <a:effectLst/>
                <a:highlight>
                  <a:srgbClr val="FFFF00"/>
                </a:highlight>
                <a:latin typeface="+mn-lt"/>
              </a:rPr>
            </a:br>
            <a:br>
              <a:rPr lang="en-US" sz="2000" b="0" i="0" dirty="0">
                <a:solidFill>
                  <a:srgbClr val="273239"/>
                </a:solidFill>
                <a:effectLst/>
                <a:latin typeface="+mn-lt"/>
              </a:rPr>
            </a:br>
            <a:r>
              <a:rPr lang="en-US" sz="2000" b="1" i="0" dirty="0">
                <a:solidFill>
                  <a:srgbClr val="273239"/>
                </a:solidFill>
                <a:effectLst/>
                <a:latin typeface="+mn-lt"/>
              </a:rPr>
              <a:t>Complete Graphs:</a:t>
            </a:r>
            <a:r>
              <a:rPr lang="en-US" sz="2000" b="0" i="0" dirty="0">
                <a:solidFill>
                  <a:srgbClr val="273239"/>
                </a:solidFill>
                <a:effectLst/>
                <a:latin typeface="+mn-lt"/>
              </a:rPr>
              <a:t> A graph in which each vertex is connected to every other vertex. Example: </a:t>
            </a:r>
            <a:r>
              <a:rPr lang="en-US" sz="2000" b="1" i="0" dirty="0">
                <a:solidFill>
                  <a:srgbClr val="273239"/>
                </a:solidFill>
                <a:effectLst/>
                <a:latin typeface="+mn-lt"/>
              </a:rPr>
              <a:t>Trees</a:t>
            </a:r>
            <a:r>
              <a:rPr lang="en-US" sz="2000" b="0" i="0" dirty="0">
                <a:solidFill>
                  <a:srgbClr val="273239"/>
                </a:solidFill>
                <a:effectLst/>
                <a:latin typeface="+mn-lt"/>
              </a:rPr>
              <a:t>: A connected graph with no cycles. Example: A tree where each person is connected to their parents.</a:t>
            </a:r>
            <a:br>
              <a:rPr lang="en-US" sz="2000" b="0" i="0" dirty="0">
                <a:solidFill>
                  <a:srgbClr val="273239"/>
                </a:solidFill>
                <a:effectLst/>
                <a:latin typeface="+mn-lt"/>
              </a:rPr>
            </a:br>
            <a:br>
              <a:rPr lang="en-US" sz="2000" b="0" i="0" dirty="0">
                <a:solidFill>
                  <a:srgbClr val="273239"/>
                </a:solidFill>
                <a:effectLst/>
                <a:latin typeface="+mn-lt"/>
              </a:rPr>
            </a:br>
            <a:br>
              <a:rPr lang="en-US" sz="2000" b="0" i="0" dirty="0">
                <a:solidFill>
                  <a:srgbClr val="273239"/>
                </a:solidFill>
                <a:effectLst/>
                <a:latin typeface="+mn-lt"/>
              </a:rPr>
            </a:br>
            <a:r>
              <a:rPr lang="en-US" sz="2000" b="1" i="0" dirty="0">
                <a:solidFill>
                  <a:srgbClr val="273239"/>
                </a:solidFill>
                <a:effectLst/>
                <a:highlight>
                  <a:srgbClr val="FFFF00"/>
                </a:highlight>
                <a:latin typeface="+mn-lt"/>
              </a:rPr>
              <a:t>Sparse Graphs:</a:t>
            </a:r>
            <a:r>
              <a:rPr lang="en-US" sz="2000" b="0" i="0" dirty="0">
                <a:solidFill>
                  <a:srgbClr val="273239"/>
                </a:solidFill>
                <a:effectLst/>
                <a:highlight>
                  <a:srgbClr val="FFFF00"/>
                </a:highlight>
                <a:latin typeface="+mn-lt"/>
              </a:rPr>
              <a:t> A graph with relatively few edges compared to the number of vertices. Example: A chemical reaction graph where each vertex represents a chemical compound, and each edge represents a reaction between two compounds.</a:t>
            </a:r>
            <a:endParaRPr lang="en-US" sz="2000" b="1" dirty="0">
              <a:latin typeface="+mn-lt"/>
            </a:endParaRPr>
          </a:p>
        </p:txBody>
      </p:sp>
    </p:spTree>
    <p:extLst>
      <p:ext uri="{BB962C8B-B14F-4D97-AF65-F5344CB8AC3E}">
        <p14:creationId xmlns:p14="http://schemas.microsoft.com/office/powerpoint/2010/main" val="2068175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743E-A387-BCDA-CECF-6A3E96C4A817}"/>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D7802D3D-CF93-B5E8-D86A-39ED49B46AF0}"/>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GNN</a:t>
            </a:r>
            <a:endParaRPr lang="en-US" sz="2800" dirty="0">
              <a:solidFill>
                <a:srgbClr val="0070C0"/>
              </a:solidFill>
            </a:endParaRPr>
          </a:p>
        </p:txBody>
      </p:sp>
      <p:sp>
        <p:nvSpPr>
          <p:cNvPr id="5" name="Title 4">
            <a:extLst>
              <a:ext uri="{FF2B5EF4-FFF2-40B4-BE49-F238E27FC236}">
                <a16:creationId xmlns:a16="http://schemas.microsoft.com/office/drawing/2014/main" id="{9563D4E8-277A-E7A0-C1F0-8859C089B028}"/>
              </a:ext>
            </a:extLst>
          </p:cNvPr>
          <p:cNvSpPr>
            <a:spLocks noGrp="1"/>
          </p:cNvSpPr>
          <p:nvPr>
            <p:ph type="ctrTitle"/>
          </p:nvPr>
        </p:nvSpPr>
        <p:spPr>
          <a:xfrm>
            <a:off x="254000" y="851679"/>
            <a:ext cx="11785599" cy="3906932"/>
          </a:xfrm>
        </p:spPr>
        <p:txBody>
          <a:bodyPr>
            <a:noAutofit/>
          </a:bodyPr>
          <a:lstStyle/>
          <a:p>
            <a:pPr algn="l"/>
            <a:r>
              <a:rPr lang="en-US" sz="2000" b="1" i="0" dirty="0">
                <a:solidFill>
                  <a:srgbClr val="05192D"/>
                </a:solidFill>
                <a:effectLst/>
                <a:latin typeface="+mn-lt"/>
              </a:rPr>
              <a:t>What is a Graph Neural Network (GNN)?</a:t>
            </a:r>
            <a:br>
              <a:rPr lang="en-US" sz="2000" b="1" i="0" dirty="0">
                <a:solidFill>
                  <a:srgbClr val="05192D"/>
                </a:solidFill>
                <a:effectLst/>
                <a:latin typeface="+mn-lt"/>
              </a:rPr>
            </a:br>
            <a:r>
              <a:rPr lang="en-US" sz="2000" b="0" i="0" dirty="0">
                <a:solidFill>
                  <a:srgbClr val="05192D"/>
                </a:solidFill>
                <a:effectLst/>
                <a:highlight>
                  <a:srgbClr val="FFFF00"/>
                </a:highlight>
                <a:latin typeface="+mn-lt"/>
              </a:rPr>
              <a:t>Graph Neural Networks are special types of neural networks capable of working with a graph data structure. </a:t>
            </a:r>
            <a:r>
              <a:rPr lang="en-US" sz="2000" b="0" i="0" dirty="0">
                <a:solidFill>
                  <a:srgbClr val="05192D"/>
                </a:solidFill>
                <a:effectLst/>
                <a:latin typeface="+mn-lt"/>
              </a:rPr>
              <a:t>They are highly influenced by Convolutional Neural Networks (CNNs) and graph embedding. GNNs are used in predicting nodes, edges, and graph-based tasks. </a:t>
            </a:r>
            <a:br>
              <a:rPr lang="en-US" sz="2000" b="0" i="0" dirty="0">
                <a:solidFill>
                  <a:srgbClr val="05192D"/>
                </a:solidFill>
                <a:effectLst/>
                <a:latin typeface="+mn-lt"/>
              </a:rPr>
            </a:br>
            <a:br>
              <a:rPr lang="en-US" sz="2000" b="0" i="0" dirty="0">
                <a:solidFill>
                  <a:srgbClr val="05192D"/>
                </a:solidFill>
                <a:effectLst/>
                <a:latin typeface="+mn-lt"/>
              </a:rPr>
            </a:br>
            <a:r>
              <a:rPr lang="en-US" sz="2000" b="1" i="0" dirty="0">
                <a:solidFill>
                  <a:srgbClr val="05192D"/>
                </a:solidFill>
                <a:effectLst/>
                <a:latin typeface="+mn-lt"/>
              </a:rPr>
              <a:t>CNNs</a:t>
            </a:r>
            <a:r>
              <a:rPr lang="en-US" sz="2000" b="0" i="0" dirty="0">
                <a:solidFill>
                  <a:srgbClr val="05192D"/>
                </a:solidFill>
                <a:effectLst/>
                <a:latin typeface="+mn-lt"/>
              </a:rPr>
              <a:t> are used for image classification. Similarly, GNNs are applied to graph structure (grid of pixels) to predict a class. </a:t>
            </a:r>
            <a:br>
              <a:rPr lang="en-US" sz="2000" b="0" i="0" dirty="0">
                <a:solidFill>
                  <a:srgbClr val="05192D"/>
                </a:solidFill>
                <a:effectLst/>
                <a:latin typeface="+mn-lt"/>
              </a:rPr>
            </a:br>
            <a:br>
              <a:rPr lang="en-US" sz="2000" b="0" i="0" dirty="0">
                <a:solidFill>
                  <a:srgbClr val="05192D"/>
                </a:solidFill>
                <a:effectLst/>
                <a:latin typeface="+mn-lt"/>
              </a:rPr>
            </a:br>
            <a:r>
              <a:rPr lang="en-US" sz="2000" b="1" i="0" dirty="0">
                <a:solidFill>
                  <a:srgbClr val="05192D"/>
                </a:solidFill>
                <a:effectLst/>
                <a:latin typeface="+mn-lt"/>
              </a:rPr>
              <a:t>Recurrence Neural Networks</a:t>
            </a:r>
            <a:r>
              <a:rPr lang="en-US" sz="2000" b="0" i="0" dirty="0">
                <a:solidFill>
                  <a:srgbClr val="05192D"/>
                </a:solidFill>
                <a:effectLst/>
                <a:latin typeface="+mn-lt"/>
              </a:rPr>
              <a:t> are used in text classification. Similarly, GNNs are applied to graph structures where every word is a node in a sentence. </a:t>
            </a:r>
            <a:br>
              <a:rPr lang="en-US" sz="2000" b="0" i="0" dirty="0">
                <a:solidFill>
                  <a:srgbClr val="05192D"/>
                </a:solidFill>
                <a:effectLst/>
                <a:latin typeface="+mn-lt"/>
              </a:rPr>
            </a:br>
            <a:br>
              <a:rPr lang="en-US" sz="2000" b="0" i="0" dirty="0">
                <a:solidFill>
                  <a:srgbClr val="05192D"/>
                </a:solidFill>
                <a:effectLst/>
                <a:latin typeface="+mn-lt"/>
              </a:rPr>
            </a:br>
            <a:r>
              <a:rPr lang="en-US" sz="2000" dirty="0">
                <a:latin typeface="+mn-lt"/>
                <a:hlinkClick r:id="rId2"/>
              </a:rPr>
              <a:t>A Comprehensive Introduction to Graph Neural Networks (GNNs) | </a:t>
            </a:r>
            <a:r>
              <a:rPr lang="en-US" sz="2000" dirty="0" err="1">
                <a:latin typeface="+mn-lt"/>
                <a:hlinkClick r:id="rId2"/>
              </a:rPr>
              <a:t>DataCamp</a:t>
            </a:r>
            <a:br>
              <a:rPr lang="en-US" sz="2000" b="0" i="0" dirty="0">
                <a:solidFill>
                  <a:srgbClr val="05192D"/>
                </a:solidFill>
                <a:effectLst/>
                <a:latin typeface="+mn-lt"/>
              </a:rPr>
            </a:br>
            <a:r>
              <a:rPr lang="en-US" sz="2000" dirty="0">
                <a:latin typeface="+mn-lt"/>
              </a:rPr>
              <a:t>The coding examples are influenced by </a:t>
            </a:r>
            <a:r>
              <a:rPr lang="en-US" sz="2000" b="1" dirty="0" err="1">
                <a:latin typeface="+mn-lt"/>
                <a:hlinkClick r:id="rId3"/>
              </a:rPr>
              <a:t>Pytorch</a:t>
            </a:r>
            <a:r>
              <a:rPr lang="en-US" sz="2000" b="1" dirty="0">
                <a:latin typeface="+mn-lt"/>
                <a:hlinkClick r:id="rId3"/>
              </a:rPr>
              <a:t> geometric</a:t>
            </a:r>
            <a:r>
              <a:rPr lang="en-US" sz="2000" dirty="0">
                <a:latin typeface="+mn-lt"/>
              </a:rPr>
              <a:t> documentation. </a:t>
            </a:r>
            <a:endParaRPr lang="en-US" sz="2000" b="1" dirty="0">
              <a:latin typeface="+mn-lt"/>
            </a:endParaRPr>
          </a:p>
        </p:txBody>
      </p:sp>
      <p:sp>
        <p:nvSpPr>
          <p:cNvPr id="4" name="TextBox 3">
            <a:extLst>
              <a:ext uri="{FF2B5EF4-FFF2-40B4-BE49-F238E27FC236}">
                <a16:creationId xmlns:a16="http://schemas.microsoft.com/office/drawing/2014/main" id="{DA79270B-4E2D-C22E-FDBF-BB2C3DD3BE87}"/>
              </a:ext>
            </a:extLst>
          </p:cNvPr>
          <p:cNvSpPr txBox="1"/>
          <p:nvPr/>
        </p:nvSpPr>
        <p:spPr>
          <a:xfrm>
            <a:off x="254000" y="5077513"/>
            <a:ext cx="11632423" cy="1323439"/>
          </a:xfrm>
          <a:prstGeom prst="rect">
            <a:avLst/>
          </a:prstGeom>
          <a:noFill/>
        </p:spPr>
        <p:txBody>
          <a:bodyPr wrap="square">
            <a:spAutoFit/>
          </a:bodyPr>
          <a:lstStyle/>
          <a:p>
            <a:r>
              <a:rPr lang="en-US" sz="2000" b="0" i="0" dirty="0">
                <a:solidFill>
                  <a:srgbClr val="05192D"/>
                </a:solidFill>
                <a:effectLst/>
              </a:rPr>
              <a:t>The Cora dataset has 2708 </a:t>
            </a:r>
            <a:r>
              <a:rPr lang="en-US" sz="2000" b="1" i="0" dirty="0">
                <a:solidFill>
                  <a:srgbClr val="05192D"/>
                </a:solidFill>
                <a:effectLst/>
              </a:rPr>
              <a:t>nodes</a:t>
            </a:r>
            <a:r>
              <a:rPr lang="en-US" sz="2000" b="0" i="0" dirty="0">
                <a:solidFill>
                  <a:srgbClr val="05192D"/>
                </a:solidFill>
                <a:effectLst/>
              </a:rPr>
              <a:t>, 10,556 edges, 1433 </a:t>
            </a:r>
            <a:r>
              <a:rPr lang="en-US" sz="2000" b="1" i="0" dirty="0">
                <a:solidFill>
                  <a:srgbClr val="05192D"/>
                </a:solidFill>
                <a:effectLst/>
              </a:rPr>
              <a:t>features</a:t>
            </a:r>
            <a:r>
              <a:rPr lang="en-US" sz="2000" b="0" i="0" dirty="0">
                <a:solidFill>
                  <a:srgbClr val="05192D"/>
                </a:solidFill>
                <a:effectLst/>
              </a:rPr>
              <a:t>, and </a:t>
            </a:r>
            <a:r>
              <a:rPr lang="en-US" sz="2000" b="1" i="0" dirty="0">
                <a:solidFill>
                  <a:srgbClr val="05192D"/>
                </a:solidFill>
                <a:effectLst/>
              </a:rPr>
              <a:t>7</a:t>
            </a:r>
            <a:r>
              <a:rPr lang="en-US" sz="2000" b="0" i="0" dirty="0">
                <a:solidFill>
                  <a:srgbClr val="05192D"/>
                </a:solidFill>
                <a:effectLst/>
              </a:rPr>
              <a:t> classes. The first object has 2708 train, validation, and test masks. We will use these masks to train and evaluate the model. </a:t>
            </a:r>
          </a:p>
          <a:p>
            <a:endParaRPr lang="en-US" sz="2000" dirty="0">
              <a:solidFill>
                <a:srgbClr val="05192D"/>
              </a:solidFill>
            </a:endParaRPr>
          </a:p>
          <a:p>
            <a:r>
              <a:rPr lang="en-US" sz="2000" b="1" dirty="0"/>
              <a:t>Lab7_2024 </a:t>
            </a:r>
            <a:r>
              <a:rPr lang="en-US" sz="2000" dirty="0" err="1">
                <a:hlinkClick r:id="rId4"/>
              </a:rPr>
              <a:t>PyG</a:t>
            </a:r>
            <a:r>
              <a:rPr lang="en-US" sz="2000" dirty="0">
                <a:hlinkClick r:id="rId4"/>
              </a:rPr>
              <a:t> Documentation — </a:t>
            </a:r>
            <a:r>
              <a:rPr lang="en-US" sz="2000" dirty="0" err="1">
                <a:hlinkClick r:id="rId4"/>
              </a:rPr>
              <a:t>pytorch_geometric</a:t>
            </a:r>
            <a:r>
              <a:rPr lang="en-US" sz="2000" dirty="0">
                <a:hlinkClick r:id="rId4"/>
              </a:rPr>
              <a:t> documentation</a:t>
            </a:r>
            <a:r>
              <a:rPr lang="en-US" sz="2000" dirty="0"/>
              <a:t> – takes longer to run</a:t>
            </a:r>
          </a:p>
        </p:txBody>
      </p:sp>
    </p:spTree>
    <p:extLst>
      <p:ext uri="{BB962C8B-B14F-4D97-AF65-F5344CB8AC3E}">
        <p14:creationId xmlns:p14="http://schemas.microsoft.com/office/powerpoint/2010/main" val="571128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1CD9-71D4-A6AA-1BE9-473A23C22AC1}"/>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645A0288-E587-D64E-6297-76B64A33AE78}"/>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GNN</a:t>
            </a:r>
            <a:endParaRPr lang="en-US" sz="2800" dirty="0">
              <a:solidFill>
                <a:srgbClr val="0070C0"/>
              </a:solidFill>
            </a:endParaRPr>
          </a:p>
        </p:txBody>
      </p:sp>
      <p:sp>
        <p:nvSpPr>
          <p:cNvPr id="5" name="Title 4">
            <a:extLst>
              <a:ext uri="{FF2B5EF4-FFF2-40B4-BE49-F238E27FC236}">
                <a16:creationId xmlns:a16="http://schemas.microsoft.com/office/drawing/2014/main" id="{45A0206D-A54B-2835-C073-C1A6EECACB9A}"/>
              </a:ext>
            </a:extLst>
          </p:cNvPr>
          <p:cNvSpPr>
            <a:spLocks noGrp="1"/>
          </p:cNvSpPr>
          <p:nvPr>
            <p:ph type="ctrTitle"/>
          </p:nvPr>
        </p:nvSpPr>
        <p:spPr>
          <a:xfrm>
            <a:off x="254000" y="838200"/>
            <a:ext cx="11785599" cy="5461001"/>
          </a:xfrm>
        </p:spPr>
        <p:txBody>
          <a:bodyPr>
            <a:noAutofit/>
          </a:bodyPr>
          <a:lstStyle/>
          <a:p>
            <a:pPr marL="342900" indent="-342900" algn="l">
              <a:buFont typeface="Wingdings" panose="05000000000000000000" pitchFamily="2" charset="2"/>
              <a:buChar char="§"/>
            </a:pPr>
            <a:r>
              <a:rPr lang="en-US" sz="2000" b="1" i="0" dirty="0">
                <a:solidFill>
                  <a:srgbClr val="3C4043"/>
                </a:solidFill>
                <a:effectLst/>
                <a:latin typeface="+mn-lt"/>
              </a:rPr>
              <a:t>Traditional graph analysis</a:t>
            </a:r>
            <a:r>
              <a:rPr lang="en-US" sz="2000" b="0" i="0" dirty="0">
                <a:solidFill>
                  <a:srgbClr val="3C4043"/>
                </a:solidFill>
                <a:effectLst/>
                <a:latin typeface="+mn-lt"/>
              </a:rPr>
              <a:t> methods requires using searching algorithms, clustering spanning tree algorithms and so on. A major downside to using these methods for analysis of graph data is that you require a prior knowledge of the graph to be able to apply these algorithms.</a:t>
            </a:r>
            <a:br>
              <a:rPr lang="en-US" sz="2000" b="0" i="0" dirty="0">
                <a:solidFill>
                  <a:srgbClr val="3C4043"/>
                </a:solidFill>
                <a:effectLst/>
                <a:latin typeface="+mn-lt"/>
              </a:rPr>
            </a:br>
            <a:r>
              <a:rPr lang="en-US" sz="2000" b="0" i="0" dirty="0">
                <a:solidFill>
                  <a:srgbClr val="3C4043"/>
                </a:solidFill>
                <a:effectLst/>
                <a:latin typeface="+mn-lt"/>
              </a:rPr>
              <a:t>Based on the structure of the graph data, traditional machine learning system will not be able to properly interpret the graph data and thus the advent of the </a:t>
            </a:r>
            <a:r>
              <a:rPr lang="en-US" sz="2000" b="1" i="0" dirty="0">
                <a:solidFill>
                  <a:srgbClr val="3C4043"/>
                </a:solidFill>
                <a:effectLst/>
                <a:latin typeface="+mn-lt"/>
              </a:rPr>
              <a:t>Graph Neural Network (GNN)</a:t>
            </a:r>
            <a:r>
              <a:rPr lang="en-US" sz="2000" b="0" i="0" dirty="0">
                <a:solidFill>
                  <a:srgbClr val="3C4043"/>
                </a:solidFill>
                <a:effectLst/>
                <a:latin typeface="+mn-lt"/>
              </a:rPr>
              <a:t>. </a:t>
            </a:r>
            <a:r>
              <a:rPr lang="en-US" sz="2000" b="0" i="0" dirty="0">
                <a:solidFill>
                  <a:srgbClr val="3C4043"/>
                </a:solidFill>
                <a:effectLst/>
                <a:highlight>
                  <a:srgbClr val="FFFF00"/>
                </a:highlight>
                <a:latin typeface="+mn-lt"/>
              </a:rPr>
              <a:t>Graph neural network is a domain of deep learning that is mostly concerned with deep learning operations on graph datasets.</a:t>
            </a:r>
            <a:br>
              <a:rPr lang="en-US" sz="2000" b="0" i="0" dirty="0">
                <a:solidFill>
                  <a:srgbClr val="3C4043"/>
                </a:solidFill>
                <a:effectLst/>
                <a:latin typeface="+mn-lt"/>
              </a:rPr>
            </a:br>
            <a:br>
              <a:rPr lang="en-US" sz="2000" b="0" i="0" dirty="0">
                <a:solidFill>
                  <a:srgbClr val="05192D"/>
                </a:solidFill>
                <a:effectLst/>
                <a:latin typeface="+mn-lt"/>
              </a:rPr>
            </a:br>
            <a:r>
              <a:rPr lang="en-US" sz="2000" b="1" i="0" dirty="0">
                <a:solidFill>
                  <a:srgbClr val="3C4043"/>
                </a:solidFill>
                <a:effectLst/>
                <a:latin typeface="+mn-lt"/>
              </a:rPr>
              <a:t>Application of Machine learning in Graphs</a:t>
            </a:r>
            <a:br>
              <a:rPr lang="en-US" sz="2000" b="0" i="0" dirty="0">
                <a:solidFill>
                  <a:srgbClr val="3C4043"/>
                </a:solidFill>
                <a:effectLst/>
                <a:latin typeface="+mn-lt"/>
              </a:rPr>
            </a:br>
            <a:r>
              <a:rPr lang="en-US" sz="2000" b="0" i="0" dirty="0">
                <a:solidFill>
                  <a:srgbClr val="3C4043"/>
                </a:solidFill>
                <a:effectLst/>
                <a:latin typeface="+mn-lt"/>
              </a:rPr>
              <a:t>- Protein folding for drug analysis</a:t>
            </a:r>
            <a:br>
              <a:rPr lang="en-US" sz="2000" b="0" i="0" dirty="0">
                <a:solidFill>
                  <a:srgbClr val="3C4043"/>
                </a:solidFill>
                <a:effectLst/>
                <a:latin typeface="+mn-lt"/>
              </a:rPr>
            </a:br>
            <a:r>
              <a:rPr lang="en-US" sz="2000" b="0" i="0" dirty="0">
                <a:solidFill>
                  <a:srgbClr val="3C4043"/>
                </a:solidFill>
                <a:effectLst/>
                <a:latin typeface="+mn-lt"/>
              </a:rPr>
              <a:t>- Recommender systems</a:t>
            </a:r>
            <a:br>
              <a:rPr lang="en-US" sz="2000" b="0" i="0" dirty="0">
                <a:solidFill>
                  <a:srgbClr val="3C4043"/>
                </a:solidFill>
                <a:effectLst/>
                <a:latin typeface="+mn-lt"/>
              </a:rPr>
            </a:br>
            <a:r>
              <a:rPr lang="en-US" sz="2000" b="0" i="0" dirty="0">
                <a:solidFill>
                  <a:srgbClr val="3C4043"/>
                </a:solidFill>
                <a:effectLst/>
                <a:latin typeface="+mn-lt"/>
              </a:rPr>
              <a:t>- Drug side effect prediction</a:t>
            </a:r>
            <a:br>
              <a:rPr lang="en-US" sz="2000" b="0" i="0" dirty="0">
                <a:solidFill>
                  <a:srgbClr val="3C4043"/>
                </a:solidFill>
                <a:effectLst/>
                <a:latin typeface="+mn-lt"/>
              </a:rPr>
            </a:br>
            <a:r>
              <a:rPr lang="en-US" sz="2000" b="0" i="0" dirty="0">
                <a:solidFill>
                  <a:srgbClr val="3C4043"/>
                </a:solidFill>
                <a:effectLst/>
                <a:latin typeface="+mn-lt"/>
              </a:rPr>
              <a:t>- Traffic predictions</a:t>
            </a:r>
            <a:br>
              <a:rPr lang="en-US" sz="2000" b="0" i="0" dirty="0">
                <a:solidFill>
                  <a:srgbClr val="3C4043"/>
                </a:solidFill>
                <a:effectLst/>
                <a:latin typeface="+mn-lt"/>
              </a:rPr>
            </a:br>
            <a:r>
              <a:rPr lang="en-US" sz="2000" b="0" i="0" dirty="0">
                <a:solidFill>
                  <a:srgbClr val="3C4043"/>
                </a:solidFill>
                <a:effectLst/>
                <a:latin typeface="+mn-lt"/>
              </a:rPr>
              <a:t>- Drug discovery</a:t>
            </a:r>
            <a:br>
              <a:rPr lang="en-US" sz="2000" b="0" i="0" dirty="0">
                <a:solidFill>
                  <a:srgbClr val="3C4043"/>
                </a:solidFill>
                <a:effectLst/>
                <a:latin typeface="+mn-lt"/>
              </a:rPr>
            </a:br>
            <a:r>
              <a:rPr lang="en-US" sz="2000" b="0" i="0" dirty="0">
                <a:solidFill>
                  <a:srgbClr val="3C4043"/>
                </a:solidFill>
                <a:effectLst/>
                <a:latin typeface="+mn-lt"/>
              </a:rPr>
              <a:t>- Molecule generation</a:t>
            </a:r>
            <a:br>
              <a:rPr lang="en-US" sz="2000" b="0" i="0" dirty="0">
                <a:solidFill>
                  <a:srgbClr val="3C4043"/>
                </a:solidFill>
                <a:effectLst/>
                <a:latin typeface="+mn-lt"/>
              </a:rPr>
            </a:br>
            <a:r>
              <a:rPr lang="en-US" sz="2000" b="0" i="0" dirty="0">
                <a:solidFill>
                  <a:srgbClr val="3C4043"/>
                </a:solidFill>
                <a:effectLst/>
                <a:latin typeface="+mn-lt"/>
              </a:rPr>
              <a:t>- Physics simulation</a:t>
            </a:r>
            <a:br>
              <a:rPr lang="en-US" sz="2000" b="0" i="0" dirty="0">
                <a:solidFill>
                  <a:srgbClr val="3C4043"/>
                </a:solidFill>
                <a:effectLst/>
                <a:latin typeface="+mn-lt"/>
              </a:rPr>
            </a:br>
            <a:br>
              <a:rPr lang="en-US" sz="2000" b="0" i="0" dirty="0">
                <a:solidFill>
                  <a:srgbClr val="05192D"/>
                </a:solidFill>
                <a:effectLst/>
                <a:latin typeface="+mn-lt"/>
              </a:rPr>
            </a:br>
            <a:br>
              <a:rPr lang="en-US" sz="2000" b="0" i="0" dirty="0">
                <a:solidFill>
                  <a:srgbClr val="05192D"/>
                </a:solidFill>
                <a:effectLst/>
                <a:latin typeface="+mn-lt"/>
              </a:rPr>
            </a:br>
            <a:br>
              <a:rPr lang="en-US" sz="2000" dirty="0">
                <a:latin typeface="+mn-lt"/>
              </a:rPr>
            </a:br>
            <a:endParaRPr lang="en-US" sz="2000" b="1" dirty="0">
              <a:latin typeface="+mn-lt"/>
            </a:endParaRPr>
          </a:p>
        </p:txBody>
      </p:sp>
    </p:spTree>
    <p:extLst>
      <p:ext uri="{BB962C8B-B14F-4D97-AF65-F5344CB8AC3E}">
        <p14:creationId xmlns:p14="http://schemas.microsoft.com/office/powerpoint/2010/main" val="77734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C54F6-5336-A7FC-B20D-EAC873E63BA7}"/>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173CF6ED-8F82-DD52-B15B-53214B1878F5}"/>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Types of Graph Neural Networks</a:t>
            </a:r>
            <a:endParaRPr lang="en-US" sz="2800" dirty="0">
              <a:solidFill>
                <a:srgbClr val="0070C0"/>
              </a:solidFill>
            </a:endParaRPr>
          </a:p>
        </p:txBody>
      </p:sp>
      <p:sp>
        <p:nvSpPr>
          <p:cNvPr id="5" name="Title 4">
            <a:extLst>
              <a:ext uri="{FF2B5EF4-FFF2-40B4-BE49-F238E27FC236}">
                <a16:creationId xmlns:a16="http://schemas.microsoft.com/office/drawing/2014/main" id="{2228FD66-457E-2E9E-134A-2772B7467DDF}"/>
              </a:ext>
            </a:extLst>
          </p:cNvPr>
          <p:cNvSpPr>
            <a:spLocks noGrp="1"/>
          </p:cNvSpPr>
          <p:nvPr>
            <p:ph type="ctrTitle"/>
          </p:nvPr>
        </p:nvSpPr>
        <p:spPr>
          <a:xfrm>
            <a:off x="254000" y="889002"/>
            <a:ext cx="11785599" cy="5469466"/>
          </a:xfrm>
        </p:spPr>
        <p:txBody>
          <a:bodyPr>
            <a:noAutofit/>
          </a:bodyPr>
          <a:lstStyle/>
          <a:p>
            <a:pPr algn="l"/>
            <a:r>
              <a:rPr lang="en-US" sz="1800" b="0" i="0" dirty="0">
                <a:solidFill>
                  <a:srgbClr val="05192D"/>
                </a:solidFill>
                <a:effectLst/>
                <a:latin typeface="+mn-lt"/>
              </a:rPr>
              <a:t>There are several types of neural networks, and most of them have some variation of Convolutional Neural Networks. In this section, we will be learning about the most popular GNNs. </a:t>
            </a:r>
            <a:br>
              <a:rPr lang="en-US" sz="1800" b="0" i="0" dirty="0">
                <a:solidFill>
                  <a:srgbClr val="05192D"/>
                </a:solidFill>
                <a:effectLst/>
                <a:latin typeface="+mn-lt"/>
              </a:rPr>
            </a:br>
            <a:br>
              <a:rPr lang="en-US" sz="1800" b="0" i="0" dirty="0">
                <a:solidFill>
                  <a:srgbClr val="05192D"/>
                </a:solidFill>
                <a:effectLst/>
                <a:latin typeface="+mn-lt"/>
              </a:rPr>
            </a:br>
            <a:r>
              <a:rPr lang="en-US" sz="1800" b="0" i="0" dirty="0">
                <a:solidFill>
                  <a:srgbClr val="05192D"/>
                </a:solidFill>
                <a:effectLst/>
                <a:highlight>
                  <a:srgbClr val="FFFF00"/>
                </a:highlight>
                <a:latin typeface="+mn-lt"/>
              </a:rPr>
              <a:t>G</a:t>
            </a:r>
            <a:r>
              <a:rPr lang="en-US" sz="1800" b="1" i="0" dirty="0">
                <a:solidFill>
                  <a:srgbClr val="05192D"/>
                </a:solidFill>
                <a:effectLst/>
                <a:highlight>
                  <a:srgbClr val="FFFF00"/>
                </a:highlight>
                <a:latin typeface="+mn-lt"/>
              </a:rPr>
              <a:t>raph Convolutional Networks (GCNs) </a:t>
            </a:r>
            <a:r>
              <a:rPr lang="en-US" sz="1800" b="0" i="0" dirty="0">
                <a:solidFill>
                  <a:srgbClr val="05192D"/>
                </a:solidFill>
                <a:effectLst/>
                <a:latin typeface="+mn-lt"/>
              </a:rPr>
              <a:t>are similar to traditional CNNs. It learns features by inspecting neighboring nodes. GNNs aggregate node vectors, pass the result to the dense layer, and apply non-linearity using the activation function. In short, it consists of Graph convolution, linear layer, and non-learner activation function. There are two major types of GCNs: Spatial Convolutional Networks and Spectral Convolutional Networks.</a:t>
            </a:r>
            <a:br>
              <a:rPr lang="en-US" sz="1800" b="0" i="0" dirty="0">
                <a:solidFill>
                  <a:srgbClr val="05192D"/>
                </a:solidFill>
                <a:effectLst/>
                <a:latin typeface="+mn-lt"/>
              </a:rPr>
            </a:br>
            <a:br>
              <a:rPr lang="en-US" sz="1800" b="0" i="0" dirty="0">
                <a:solidFill>
                  <a:srgbClr val="05192D"/>
                </a:solidFill>
                <a:effectLst/>
                <a:latin typeface="+mn-lt"/>
              </a:rPr>
            </a:br>
            <a:r>
              <a:rPr lang="en-US" sz="1800" b="1" i="0" dirty="0">
                <a:solidFill>
                  <a:srgbClr val="05192D"/>
                </a:solidFill>
                <a:effectLst/>
                <a:highlight>
                  <a:srgbClr val="FFFF00"/>
                </a:highlight>
                <a:latin typeface="+mn-lt"/>
              </a:rPr>
              <a:t>Graph Auto-Encoder Networks</a:t>
            </a:r>
            <a:r>
              <a:rPr lang="en-US" sz="1800" b="0" i="0" dirty="0">
                <a:solidFill>
                  <a:srgbClr val="05192D"/>
                </a:solidFill>
                <a:effectLst/>
                <a:highlight>
                  <a:srgbClr val="FFFF00"/>
                </a:highlight>
                <a:latin typeface="+mn-lt"/>
              </a:rPr>
              <a:t> </a:t>
            </a:r>
            <a:r>
              <a:rPr lang="en-US" sz="1800" b="0" i="0" dirty="0">
                <a:solidFill>
                  <a:srgbClr val="05192D"/>
                </a:solidFill>
                <a:effectLst/>
                <a:latin typeface="+mn-lt"/>
              </a:rPr>
              <a:t>learn graph representation using an encoder and attempt to reconstruct input graphs using a decoder. The encoder and decoders are joined by a bottleneck layer. They are commonly used in link prediction as Auto-Encoders are good at dealing with class balance. </a:t>
            </a:r>
            <a:br>
              <a:rPr lang="en-US" sz="1800" b="0" i="0" dirty="0">
                <a:solidFill>
                  <a:srgbClr val="05192D"/>
                </a:solidFill>
                <a:effectLst/>
                <a:latin typeface="+mn-lt"/>
              </a:rPr>
            </a:br>
            <a:br>
              <a:rPr lang="en-US" sz="1800" b="0" i="0" dirty="0">
                <a:solidFill>
                  <a:srgbClr val="05192D"/>
                </a:solidFill>
                <a:effectLst/>
                <a:latin typeface="+mn-lt"/>
              </a:rPr>
            </a:br>
            <a:r>
              <a:rPr lang="en-US" sz="1800" b="1" i="0" dirty="0">
                <a:solidFill>
                  <a:srgbClr val="05192D"/>
                </a:solidFill>
                <a:effectLst/>
                <a:highlight>
                  <a:srgbClr val="FFFF00"/>
                </a:highlight>
                <a:latin typeface="+mn-lt"/>
              </a:rPr>
              <a:t>Recurrent Graph Neural Networks(RGNNs)</a:t>
            </a:r>
            <a:r>
              <a:rPr lang="en-US" sz="1800" b="0" i="0" dirty="0">
                <a:solidFill>
                  <a:srgbClr val="05192D"/>
                </a:solidFill>
                <a:effectLst/>
                <a:highlight>
                  <a:srgbClr val="FFFF00"/>
                </a:highlight>
                <a:latin typeface="+mn-lt"/>
              </a:rPr>
              <a:t> </a:t>
            </a:r>
            <a:r>
              <a:rPr lang="en-US" sz="1800" b="0" i="0" dirty="0">
                <a:solidFill>
                  <a:srgbClr val="05192D"/>
                </a:solidFill>
                <a:effectLst/>
                <a:latin typeface="+mn-lt"/>
              </a:rPr>
              <a:t>learn the best diffusion pattern, and they can handle multi-relational graphs where a single node has multiple relations. This type of graph neural network uses </a:t>
            </a:r>
            <a:r>
              <a:rPr lang="en-US" sz="1800" b="0" i="0" dirty="0" err="1">
                <a:solidFill>
                  <a:srgbClr val="05192D"/>
                </a:solidFill>
                <a:effectLst/>
                <a:latin typeface="+mn-lt"/>
              </a:rPr>
              <a:t>regularizers</a:t>
            </a:r>
            <a:r>
              <a:rPr lang="en-US" sz="1800" b="0" i="0" dirty="0">
                <a:solidFill>
                  <a:srgbClr val="05192D"/>
                </a:solidFill>
                <a:effectLst/>
                <a:latin typeface="+mn-lt"/>
              </a:rPr>
              <a:t> to boost smoothness and eliminate over-parameterization. RGNNs use less computation power to produce better results. They are used in generating text, machine translation, speech recognition, generating image descriptions, video tagging, and text summarization.</a:t>
            </a:r>
            <a:br>
              <a:rPr lang="en-US" sz="1800" b="0" i="0" dirty="0">
                <a:solidFill>
                  <a:srgbClr val="05192D"/>
                </a:solidFill>
                <a:effectLst/>
                <a:latin typeface="+mn-lt"/>
              </a:rPr>
            </a:br>
            <a:br>
              <a:rPr lang="en-US" sz="1800" b="0" i="0" dirty="0">
                <a:solidFill>
                  <a:srgbClr val="05192D"/>
                </a:solidFill>
                <a:effectLst/>
                <a:highlight>
                  <a:srgbClr val="FFFF00"/>
                </a:highlight>
                <a:latin typeface="+mn-lt"/>
              </a:rPr>
            </a:br>
            <a:r>
              <a:rPr lang="en-US" sz="1800" b="1" i="0" dirty="0">
                <a:solidFill>
                  <a:srgbClr val="05192D"/>
                </a:solidFill>
                <a:effectLst/>
                <a:highlight>
                  <a:srgbClr val="FFFF00"/>
                </a:highlight>
                <a:latin typeface="+mn-lt"/>
              </a:rPr>
              <a:t>Gated Graph Neural Networks (GGNNs)</a:t>
            </a:r>
            <a:r>
              <a:rPr lang="en-US" sz="1800" b="0" i="0" dirty="0">
                <a:solidFill>
                  <a:srgbClr val="05192D"/>
                </a:solidFill>
                <a:effectLst/>
                <a:highlight>
                  <a:srgbClr val="FFFF00"/>
                </a:highlight>
                <a:latin typeface="+mn-lt"/>
              </a:rPr>
              <a:t> </a:t>
            </a:r>
            <a:r>
              <a:rPr lang="en-US" sz="1800" b="0" i="0" dirty="0">
                <a:solidFill>
                  <a:srgbClr val="05192D"/>
                </a:solidFill>
                <a:effectLst/>
                <a:latin typeface="+mn-lt"/>
              </a:rPr>
              <a:t>are better than the RGNNs in performing tasks with long-term dependencies. Gated Graph Neural Networks improve Recurrent Graph Neural Networks by adding a node, edge, and time gates on long-term dependencies. Similar to Gated Recurrent Units (GRUs), the gates are used to remember and forget information in different states. </a:t>
            </a:r>
            <a:endParaRPr lang="en-US" sz="2000" b="1" dirty="0">
              <a:latin typeface="+mn-lt"/>
            </a:endParaRPr>
          </a:p>
        </p:txBody>
      </p:sp>
    </p:spTree>
    <p:extLst>
      <p:ext uri="{BB962C8B-B14F-4D97-AF65-F5344CB8AC3E}">
        <p14:creationId xmlns:p14="http://schemas.microsoft.com/office/powerpoint/2010/main" val="934342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F1C50-BA19-BDB2-9443-12AFBA71D163}"/>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E3A02F72-6792-99C7-4FFF-4D864F906CEE}"/>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What is Permutation invariance and equivariance</a:t>
            </a:r>
          </a:p>
        </p:txBody>
      </p:sp>
      <p:sp>
        <p:nvSpPr>
          <p:cNvPr id="5" name="Title 4">
            <a:extLst>
              <a:ext uri="{FF2B5EF4-FFF2-40B4-BE49-F238E27FC236}">
                <a16:creationId xmlns:a16="http://schemas.microsoft.com/office/drawing/2014/main" id="{2119AA46-9088-7E4A-98DF-54FA325BC5CA}"/>
              </a:ext>
            </a:extLst>
          </p:cNvPr>
          <p:cNvSpPr>
            <a:spLocks noGrp="1"/>
          </p:cNvSpPr>
          <p:nvPr>
            <p:ph type="ctrTitle"/>
          </p:nvPr>
        </p:nvSpPr>
        <p:spPr>
          <a:xfrm>
            <a:off x="203200" y="889001"/>
            <a:ext cx="11785599" cy="3738983"/>
          </a:xfrm>
        </p:spPr>
        <p:txBody>
          <a:bodyPr>
            <a:noAutofit/>
          </a:bodyPr>
          <a:lstStyle/>
          <a:p>
            <a:pPr algn="l"/>
            <a:r>
              <a:rPr lang="en-US" sz="2000" dirty="0">
                <a:latin typeface="+mn-lt"/>
              </a:rPr>
              <a:t>Permutation invariance is a property of a mathematical function or </a:t>
            </a:r>
            <a:r>
              <a:rPr lang="en-US" sz="2000" dirty="0">
                <a:highlight>
                  <a:srgbClr val="FFFF00"/>
                </a:highlight>
                <a:latin typeface="+mn-lt"/>
              </a:rPr>
              <a:t>algorithm that remains unchanged even when the order of its inputs is altered.</a:t>
            </a:r>
            <a:br>
              <a:rPr lang="en-US" sz="2000" dirty="0">
                <a:latin typeface="+mn-lt"/>
              </a:rPr>
            </a:br>
            <a:r>
              <a:rPr lang="en-US" sz="2000" dirty="0">
                <a:latin typeface="+mn-lt"/>
              </a:rPr>
              <a:t>In other words, if we feed the function the same set of values but in a different order, the output remains the same.</a:t>
            </a:r>
            <a:br>
              <a:rPr lang="en-US" sz="2000" dirty="0">
                <a:latin typeface="+mn-lt"/>
              </a:rPr>
            </a:br>
            <a:br>
              <a:rPr lang="en-US" sz="2000" dirty="0">
                <a:latin typeface="+mn-lt"/>
              </a:rPr>
            </a:br>
            <a:r>
              <a:rPr lang="en-US" sz="2000" dirty="0">
                <a:latin typeface="+mn-lt"/>
              </a:rPr>
              <a:t>This property is particularly important in machine learning and data science because the order of input features can significantly affect the outcome of a model.</a:t>
            </a:r>
            <a:br>
              <a:rPr lang="en-US" sz="2000" dirty="0">
                <a:latin typeface="+mn-lt"/>
              </a:rPr>
            </a:br>
            <a:br>
              <a:rPr lang="en-US" sz="2000" dirty="0">
                <a:latin typeface="+mn-lt"/>
              </a:rPr>
            </a:br>
            <a:br>
              <a:rPr lang="en-US" sz="2000" dirty="0">
                <a:latin typeface="+mn-lt"/>
              </a:rPr>
            </a:br>
            <a:r>
              <a:rPr lang="en-US" sz="2000" dirty="0">
                <a:highlight>
                  <a:srgbClr val="FFFF00"/>
                </a:highlight>
                <a:latin typeface="+mn-lt"/>
              </a:rPr>
              <a:t>Permutation equivariance</a:t>
            </a:r>
            <a:r>
              <a:rPr lang="en-US" sz="2000" dirty="0">
                <a:latin typeface="+mn-lt"/>
              </a:rPr>
              <a:t> is the property of a function or model that responds to permutations of input elements by producing correspondingly permuted outputs.</a:t>
            </a:r>
            <a:br>
              <a:rPr lang="en-US" dirty="0"/>
            </a:br>
            <a:r>
              <a:rPr lang="en-US" sz="1800" b="0" i="0" dirty="0">
                <a:solidFill>
                  <a:srgbClr val="05192D"/>
                </a:solidFill>
                <a:effectLst/>
                <a:latin typeface="+mn-lt"/>
              </a:rPr>
              <a:t> </a:t>
            </a:r>
            <a:endParaRPr lang="en-US" sz="2000" b="1" dirty="0">
              <a:latin typeface="+mn-lt"/>
            </a:endParaRPr>
          </a:p>
        </p:txBody>
      </p:sp>
      <p:sp>
        <p:nvSpPr>
          <p:cNvPr id="4" name="TextBox 3">
            <a:extLst>
              <a:ext uri="{FF2B5EF4-FFF2-40B4-BE49-F238E27FC236}">
                <a16:creationId xmlns:a16="http://schemas.microsoft.com/office/drawing/2014/main" id="{9EDF5AD9-A8EB-5132-AB6A-2E0C8D71CF23}"/>
              </a:ext>
            </a:extLst>
          </p:cNvPr>
          <p:cNvSpPr txBox="1"/>
          <p:nvPr/>
        </p:nvSpPr>
        <p:spPr>
          <a:xfrm>
            <a:off x="221604" y="4701368"/>
            <a:ext cx="11301702" cy="707886"/>
          </a:xfrm>
          <a:prstGeom prst="rect">
            <a:avLst/>
          </a:prstGeom>
          <a:noFill/>
        </p:spPr>
        <p:txBody>
          <a:bodyPr wrap="square">
            <a:spAutoFit/>
          </a:bodyPr>
          <a:lstStyle/>
          <a:p>
            <a:r>
              <a:rPr lang="en-US" sz="2000" b="0" i="0" dirty="0">
                <a:effectLst/>
                <a:highlight>
                  <a:srgbClr val="FFFF00"/>
                </a:highlight>
              </a:rPr>
              <a:t>The f() is permutation invariant if the average weight is same for original and permuted graph</a:t>
            </a:r>
            <a:r>
              <a:rPr lang="en-US" sz="2000" u="sng" dirty="0">
                <a:highlight>
                  <a:srgbClr val="FFFF00"/>
                </a:highlight>
              </a:rPr>
              <a:t>. Homework question.</a:t>
            </a:r>
          </a:p>
        </p:txBody>
      </p:sp>
    </p:spTree>
    <p:extLst>
      <p:ext uri="{BB962C8B-B14F-4D97-AF65-F5344CB8AC3E}">
        <p14:creationId xmlns:p14="http://schemas.microsoft.com/office/powerpoint/2010/main" val="239997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A0BFF-EEFD-D4D6-4699-C69F9CA706ED}"/>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EBF550FD-C992-2F56-4F6E-7D89ADE78A28}"/>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Message Passing</a:t>
            </a:r>
          </a:p>
        </p:txBody>
      </p:sp>
      <p:sp>
        <p:nvSpPr>
          <p:cNvPr id="5" name="Title 4">
            <a:extLst>
              <a:ext uri="{FF2B5EF4-FFF2-40B4-BE49-F238E27FC236}">
                <a16:creationId xmlns:a16="http://schemas.microsoft.com/office/drawing/2014/main" id="{348C51D7-0D11-CA9D-CE7E-27A0E69A6282}"/>
              </a:ext>
            </a:extLst>
          </p:cNvPr>
          <p:cNvSpPr>
            <a:spLocks noGrp="1"/>
          </p:cNvSpPr>
          <p:nvPr>
            <p:ph type="ctrTitle"/>
          </p:nvPr>
        </p:nvSpPr>
        <p:spPr>
          <a:xfrm>
            <a:off x="203200" y="889001"/>
            <a:ext cx="11785599" cy="3682999"/>
          </a:xfrm>
        </p:spPr>
        <p:txBody>
          <a:bodyPr>
            <a:noAutofit/>
          </a:bodyPr>
          <a:lstStyle/>
          <a:p>
            <a:pPr algn="l"/>
            <a:r>
              <a:rPr lang="en-US" sz="2400" dirty="0">
                <a:highlight>
                  <a:srgbClr val="FFFF00"/>
                </a:highlight>
                <a:latin typeface="+mn-lt"/>
              </a:rPr>
              <a:t>Message passing is the core mechanism enabling Graph Neural Networks to learn from graph-structured data by having nodes iteratively exchange information with their neighbor’s. </a:t>
            </a:r>
            <a:br>
              <a:rPr lang="en-US" sz="2400" dirty="0">
                <a:latin typeface="+mn-lt"/>
              </a:rPr>
            </a:br>
            <a:r>
              <a:rPr lang="en-US" sz="2400" dirty="0">
                <a:latin typeface="+mn-lt"/>
              </a:rPr>
              <a:t>The process involves three steps: </a:t>
            </a:r>
            <a:br>
              <a:rPr lang="en-US" sz="2400" dirty="0">
                <a:latin typeface="+mn-lt"/>
              </a:rPr>
            </a:br>
            <a:r>
              <a:rPr lang="en-US" sz="2400" dirty="0">
                <a:latin typeface="+mn-lt"/>
              </a:rPr>
              <a:t>- Computing messages from neighboring nodes, </a:t>
            </a:r>
            <a:br>
              <a:rPr lang="en-US" sz="2400" dirty="0">
                <a:latin typeface="+mn-lt"/>
              </a:rPr>
            </a:br>
            <a:r>
              <a:rPr lang="en-US" sz="2400" dirty="0">
                <a:latin typeface="+mn-lt"/>
              </a:rPr>
              <a:t>- Aggregating these messages through operations like summation or attention, and </a:t>
            </a:r>
            <a:br>
              <a:rPr lang="en-US" sz="2400" dirty="0">
                <a:latin typeface="+mn-lt"/>
              </a:rPr>
            </a:br>
            <a:r>
              <a:rPr lang="en-US" sz="2400" dirty="0">
                <a:latin typeface="+mn-lt"/>
              </a:rPr>
              <a:t>- Updating each node’s representation by combining the aggregated information with its current features. </a:t>
            </a:r>
            <a:br>
              <a:rPr lang="en-US" sz="2400" dirty="0">
                <a:latin typeface="+mn-lt"/>
              </a:rPr>
            </a:br>
            <a:br>
              <a:rPr lang="en-US" sz="2400" dirty="0">
                <a:latin typeface="+mn-lt"/>
              </a:rPr>
            </a:br>
            <a:r>
              <a:rPr lang="en-US" sz="2400" dirty="0">
                <a:latin typeface="+mn-lt"/>
              </a:rPr>
              <a:t>Through multiple iterations, nodes can capture increasingly complex patterns from both local neighborhoods and distant parts of the graph.</a:t>
            </a:r>
            <a:br>
              <a:rPr lang="en-US" dirty="0"/>
            </a:br>
            <a:r>
              <a:rPr lang="en-US" sz="1800" b="0" i="0" dirty="0">
                <a:solidFill>
                  <a:srgbClr val="05192D"/>
                </a:solidFill>
                <a:effectLst/>
                <a:latin typeface="+mn-lt"/>
              </a:rPr>
              <a:t> </a:t>
            </a:r>
            <a:endParaRPr lang="en-US" sz="2000" b="1" dirty="0">
              <a:latin typeface="+mn-lt"/>
            </a:endParaRPr>
          </a:p>
        </p:txBody>
      </p:sp>
    </p:spTree>
    <p:extLst>
      <p:ext uri="{BB962C8B-B14F-4D97-AF65-F5344CB8AC3E}">
        <p14:creationId xmlns:p14="http://schemas.microsoft.com/office/powerpoint/2010/main" val="3516636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A911F-1078-C8F7-6BE5-A8BA4CFD1959}"/>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31BC9D62-9A6E-5FD9-03B6-E21FB632DE46}"/>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Example (Graphs can be presented by adjacency matrices)</a:t>
            </a:r>
          </a:p>
        </p:txBody>
      </p:sp>
      <p:sp>
        <p:nvSpPr>
          <p:cNvPr id="5" name="Title 4">
            <a:extLst>
              <a:ext uri="{FF2B5EF4-FFF2-40B4-BE49-F238E27FC236}">
                <a16:creationId xmlns:a16="http://schemas.microsoft.com/office/drawing/2014/main" id="{72E78230-0CBF-6B59-B778-628E0AD7081A}"/>
              </a:ext>
            </a:extLst>
          </p:cNvPr>
          <p:cNvSpPr>
            <a:spLocks noGrp="1"/>
          </p:cNvSpPr>
          <p:nvPr>
            <p:ph type="ctrTitle"/>
          </p:nvPr>
        </p:nvSpPr>
        <p:spPr>
          <a:xfrm>
            <a:off x="203200" y="889002"/>
            <a:ext cx="11785599" cy="2460688"/>
          </a:xfrm>
        </p:spPr>
        <p:txBody>
          <a:bodyPr>
            <a:noAutofit/>
          </a:bodyPr>
          <a:lstStyle/>
          <a:p>
            <a:pPr algn="l"/>
            <a:r>
              <a:rPr lang="en-US" sz="1600" dirty="0">
                <a:latin typeface="+mn-lt"/>
              </a:rPr>
              <a:t>import </a:t>
            </a:r>
            <a:r>
              <a:rPr lang="en-US" sz="1600" dirty="0" err="1">
                <a:latin typeface="+mn-lt"/>
              </a:rPr>
              <a:t>networkx</a:t>
            </a:r>
            <a:r>
              <a:rPr lang="en-US" sz="1600" dirty="0">
                <a:latin typeface="+mn-lt"/>
              </a:rPr>
              <a:t> as </a:t>
            </a:r>
            <a:r>
              <a:rPr lang="en-US" sz="1600" dirty="0" err="1">
                <a:latin typeface="+mn-lt"/>
              </a:rPr>
              <a:t>nx</a:t>
            </a:r>
            <a:br>
              <a:rPr lang="en-US" sz="1600" dirty="0">
                <a:latin typeface="+mn-lt"/>
              </a:rPr>
            </a:br>
            <a:br>
              <a:rPr lang="en-US" sz="1600" dirty="0">
                <a:latin typeface="+mn-lt"/>
              </a:rPr>
            </a:br>
            <a:r>
              <a:rPr lang="en-US" sz="1600" i="1" dirty="0">
                <a:latin typeface="+mn-lt"/>
              </a:rPr>
              <a:t># Create a graph</a:t>
            </a:r>
            <a:br>
              <a:rPr lang="en-US" sz="1600" dirty="0">
                <a:latin typeface="+mn-lt"/>
              </a:rPr>
            </a:br>
            <a:r>
              <a:rPr lang="en-US" sz="1600" dirty="0">
                <a:latin typeface="+mn-lt"/>
              </a:rPr>
              <a:t>G = </a:t>
            </a:r>
            <a:r>
              <a:rPr lang="en-US" sz="1600" dirty="0" err="1">
                <a:latin typeface="+mn-lt"/>
              </a:rPr>
              <a:t>nx.Graph</a:t>
            </a:r>
            <a:r>
              <a:rPr lang="en-US" sz="1600" dirty="0">
                <a:latin typeface="+mn-lt"/>
              </a:rPr>
              <a:t>()</a:t>
            </a:r>
            <a:br>
              <a:rPr lang="en-US" sz="1600" dirty="0">
                <a:latin typeface="+mn-lt"/>
              </a:rPr>
            </a:br>
            <a:br>
              <a:rPr lang="en-US" sz="1600" dirty="0">
                <a:latin typeface="+mn-lt"/>
              </a:rPr>
            </a:br>
            <a:r>
              <a:rPr lang="en-US" sz="1600" i="1" dirty="0">
                <a:latin typeface="+mn-lt"/>
              </a:rPr>
              <a:t># Add node 1 with attribute color='blue'</a:t>
            </a:r>
            <a:br>
              <a:rPr lang="en-US" sz="1600" dirty="0">
                <a:latin typeface="+mn-lt"/>
              </a:rPr>
            </a:br>
            <a:r>
              <a:rPr lang="en-US" sz="1600" dirty="0" err="1">
                <a:latin typeface="+mn-lt"/>
              </a:rPr>
              <a:t>G.add_nodes_from</a:t>
            </a:r>
            <a:r>
              <a:rPr lang="en-US" sz="1600" dirty="0">
                <a:latin typeface="+mn-lt"/>
              </a:rPr>
              <a:t>([(1, {"color": "blue"})])</a:t>
            </a:r>
            <a:br>
              <a:rPr lang="en-US" sz="1600" dirty="0">
                <a:latin typeface="+mn-lt"/>
              </a:rPr>
            </a:br>
            <a:br>
              <a:rPr lang="en-US" sz="1600" dirty="0">
                <a:latin typeface="+mn-lt"/>
              </a:rPr>
            </a:br>
            <a:r>
              <a:rPr lang="en-US" sz="1600" i="1" dirty="0">
                <a:latin typeface="+mn-lt"/>
              </a:rPr>
              <a:t># Verify the node attributes</a:t>
            </a:r>
            <a:br>
              <a:rPr lang="en-US" sz="1600" dirty="0">
                <a:latin typeface="+mn-lt"/>
              </a:rPr>
            </a:br>
            <a:r>
              <a:rPr lang="en-US" sz="1600" dirty="0">
                <a:latin typeface="+mn-lt"/>
              </a:rPr>
              <a:t>print(</a:t>
            </a:r>
            <a:r>
              <a:rPr lang="en-US" sz="1600" dirty="0" err="1">
                <a:latin typeface="+mn-lt"/>
              </a:rPr>
              <a:t>G.nodes</a:t>
            </a:r>
            <a:r>
              <a:rPr lang="en-US" sz="1600" dirty="0">
                <a:latin typeface="+mn-lt"/>
              </a:rPr>
              <a:t>[1])  </a:t>
            </a:r>
            <a:r>
              <a:rPr lang="en-US" sz="1600" i="1" dirty="0">
                <a:latin typeface="+mn-lt"/>
              </a:rPr>
              <a:t># Output: {'color': 'blue'}</a:t>
            </a:r>
            <a:br>
              <a:rPr lang="en-US" sz="1600" dirty="0">
                <a:latin typeface="+mn-lt"/>
              </a:rPr>
            </a:br>
            <a:r>
              <a:rPr lang="en-US" sz="1600" b="0" i="0" dirty="0">
                <a:solidFill>
                  <a:srgbClr val="05192D"/>
                </a:solidFill>
                <a:effectLst/>
                <a:latin typeface="+mn-lt"/>
              </a:rPr>
              <a:t> </a:t>
            </a:r>
            <a:endParaRPr lang="en-US" sz="1600" b="1" dirty="0">
              <a:latin typeface="+mn-lt"/>
            </a:endParaRPr>
          </a:p>
        </p:txBody>
      </p:sp>
      <p:pic>
        <p:nvPicPr>
          <p:cNvPr id="7" name="Picture 6">
            <a:extLst>
              <a:ext uri="{FF2B5EF4-FFF2-40B4-BE49-F238E27FC236}">
                <a16:creationId xmlns:a16="http://schemas.microsoft.com/office/drawing/2014/main" id="{AFCA421B-B4D8-BAFC-C76B-94E005A7E8CD}"/>
              </a:ext>
            </a:extLst>
          </p:cNvPr>
          <p:cNvPicPr>
            <a:picLocks noChangeAspect="1"/>
          </p:cNvPicPr>
          <p:nvPr/>
        </p:nvPicPr>
        <p:blipFill>
          <a:blip r:embed="rId2"/>
          <a:stretch>
            <a:fillRect/>
          </a:stretch>
        </p:blipFill>
        <p:spPr>
          <a:xfrm>
            <a:off x="203200" y="3818167"/>
            <a:ext cx="7149322" cy="2618714"/>
          </a:xfrm>
          <a:prstGeom prst="rect">
            <a:avLst/>
          </a:prstGeom>
        </p:spPr>
      </p:pic>
      <p:sp>
        <p:nvSpPr>
          <p:cNvPr id="4" name="TextBox 3">
            <a:extLst>
              <a:ext uri="{FF2B5EF4-FFF2-40B4-BE49-F238E27FC236}">
                <a16:creationId xmlns:a16="http://schemas.microsoft.com/office/drawing/2014/main" id="{8FEA3145-BBED-E9E7-901F-4035EF713572}"/>
              </a:ext>
            </a:extLst>
          </p:cNvPr>
          <p:cNvSpPr txBox="1"/>
          <p:nvPr/>
        </p:nvSpPr>
        <p:spPr>
          <a:xfrm>
            <a:off x="4597660" y="1221049"/>
            <a:ext cx="7046943" cy="369332"/>
          </a:xfrm>
          <a:prstGeom prst="rect">
            <a:avLst/>
          </a:prstGeom>
          <a:noFill/>
        </p:spPr>
        <p:txBody>
          <a:bodyPr wrap="square">
            <a:spAutoFit/>
          </a:bodyPr>
          <a:lstStyle/>
          <a:p>
            <a:r>
              <a:rPr lang="en-US" dirty="0"/>
              <a:t>The adjacency matrix for an undirected graph is a symmetric matrix</a:t>
            </a:r>
          </a:p>
        </p:txBody>
      </p:sp>
      <p:sp>
        <p:nvSpPr>
          <p:cNvPr id="8" name="TextBox 7">
            <a:extLst>
              <a:ext uri="{FF2B5EF4-FFF2-40B4-BE49-F238E27FC236}">
                <a16:creationId xmlns:a16="http://schemas.microsoft.com/office/drawing/2014/main" id="{E1A4E9B1-145E-F468-CD1A-2CC5AB687662}"/>
              </a:ext>
            </a:extLst>
          </p:cNvPr>
          <p:cNvSpPr txBox="1"/>
          <p:nvPr/>
        </p:nvSpPr>
        <p:spPr>
          <a:xfrm>
            <a:off x="4597660" y="1611477"/>
            <a:ext cx="6097554" cy="369332"/>
          </a:xfrm>
          <a:prstGeom prst="rect">
            <a:avLst/>
          </a:prstGeom>
          <a:noFill/>
        </p:spPr>
        <p:txBody>
          <a:bodyPr wrap="square">
            <a:spAutoFit/>
          </a:bodyPr>
          <a:lstStyle/>
          <a:p>
            <a:r>
              <a:rPr lang="en-US" dirty="0"/>
              <a:t>The adjacency matrix for a directed graph is not symmetric.</a:t>
            </a:r>
          </a:p>
        </p:txBody>
      </p:sp>
    </p:spTree>
    <p:extLst>
      <p:ext uri="{BB962C8B-B14F-4D97-AF65-F5344CB8AC3E}">
        <p14:creationId xmlns:p14="http://schemas.microsoft.com/office/powerpoint/2010/main" val="3703310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1D3F3-961C-E995-7957-A0C48C801B39}"/>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FDC4979E-90B3-1941-0528-8D820F4D6B2F}"/>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References</a:t>
            </a:r>
            <a:endParaRPr lang="en-US" sz="2800" dirty="0">
              <a:solidFill>
                <a:srgbClr val="0070C0"/>
              </a:solidFill>
            </a:endParaRPr>
          </a:p>
        </p:txBody>
      </p:sp>
      <p:sp>
        <p:nvSpPr>
          <p:cNvPr id="5" name="Title 4">
            <a:extLst>
              <a:ext uri="{FF2B5EF4-FFF2-40B4-BE49-F238E27FC236}">
                <a16:creationId xmlns:a16="http://schemas.microsoft.com/office/drawing/2014/main" id="{92589471-51C8-701A-5CD8-7A11102114F8}"/>
              </a:ext>
            </a:extLst>
          </p:cNvPr>
          <p:cNvSpPr>
            <a:spLocks noGrp="1"/>
          </p:cNvSpPr>
          <p:nvPr>
            <p:ph type="ctrTitle"/>
          </p:nvPr>
        </p:nvSpPr>
        <p:spPr>
          <a:xfrm>
            <a:off x="254000" y="889002"/>
            <a:ext cx="11785599" cy="4270827"/>
          </a:xfrm>
        </p:spPr>
        <p:txBody>
          <a:bodyPr>
            <a:noAutofit/>
          </a:bodyPr>
          <a:lstStyle/>
          <a:p>
            <a:pPr marL="285750" indent="-285750" algn="l">
              <a:buFont typeface="Wingdings" panose="05000000000000000000" pitchFamily="2" charset="2"/>
              <a:buChar char="§"/>
            </a:pPr>
            <a:r>
              <a:rPr lang="en-US" sz="2000" dirty="0">
                <a:latin typeface="+mn-lt"/>
                <a:hlinkClick r:id="rId2"/>
              </a:rPr>
              <a:t>GNN </a:t>
            </a:r>
            <a:r>
              <a:rPr lang="en-US" sz="2000" dirty="0" err="1">
                <a:latin typeface="+mn-lt"/>
                <a:hlinkClick r:id="rId2"/>
              </a:rPr>
              <a:t>Cheatsheet</a:t>
            </a:r>
            <a:r>
              <a:rPr lang="en-US" sz="2000" dirty="0">
                <a:latin typeface="+mn-lt"/>
                <a:hlinkClick r:id="rId2"/>
              </a:rPr>
              <a:t> — </a:t>
            </a:r>
            <a:r>
              <a:rPr lang="en-US" sz="2000" dirty="0" err="1">
                <a:latin typeface="+mn-lt"/>
                <a:hlinkClick r:id="rId2"/>
              </a:rPr>
              <a:t>pytorch_geometric</a:t>
            </a:r>
            <a:r>
              <a:rPr lang="en-US" sz="2000" dirty="0">
                <a:latin typeface="+mn-lt"/>
                <a:hlinkClick r:id="rId2"/>
              </a:rPr>
              <a:t> documentation (pytorch-geometric.readthedocs.io)</a:t>
            </a:r>
            <a:br>
              <a:rPr lang="en-US" sz="2000" dirty="0">
                <a:latin typeface="+mn-lt"/>
              </a:rPr>
            </a:br>
            <a:br>
              <a:rPr lang="en-US" sz="2000" dirty="0">
                <a:latin typeface="+mn-lt"/>
              </a:rPr>
            </a:br>
            <a:r>
              <a:rPr lang="nn-NO" sz="2000" dirty="0">
                <a:latin typeface="+mn-lt"/>
                <a:hlinkClick r:id="rId3"/>
              </a:rPr>
              <a:t>GNN-Tutorial/GNN-tutorial-solution.ipynb at master · sw-gong/GNN-Tutorial · GitHub</a:t>
            </a:r>
            <a:br>
              <a:rPr lang="nn-NO" sz="2000" dirty="0">
                <a:latin typeface="+mn-lt"/>
              </a:rPr>
            </a:br>
            <a:br>
              <a:rPr lang="nn-NO" sz="2000" dirty="0">
                <a:latin typeface="+mn-lt"/>
              </a:rPr>
            </a:br>
            <a:r>
              <a:rPr lang="en-US" sz="2000" dirty="0">
                <a:latin typeface="+mn-lt"/>
                <a:hlinkClick r:id="rId4"/>
              </a:rPr>
              <a:t>Hands-on Graph Neural Networks for Social Network Using </a:t>
            </a:r>
            <a:r>
              <a:rPr lang="en-US" sz="2000" dirty="0" err="1">
                <a:latin typeface="+mn-lt"/>
                <a:hlinkClick r:id="rId4"/>
              </a:rPr>
              <a:t>PyTorch</a:t>
            </a:r>
            <a:r>
              <a:rPr lang="en-US" sz="2000" dirty="0">
                <a:latin typeface="+mn-lt"/>
                <a:hlinkClick r:id="rId4"/>
              </a:rPr>
              <a:t> | by </a:t>
            </a:r>
            <a:r>
              <a:rPr lang="en-US" sz="2000" dirty="0" err="1">
                <a:latin typeface="+mn-lt"/>
                <a:hlinkClick r:id="rId4"/>
              </a:rPr>
              <a:t>Awadelrahman</a:t>
            </a:r>
            <a:r>
              <a:rPr lang="en-US" sz="2000" dirty="0">
                <a:latin typeface="+mn-lt"/>
                <a:hlinkClick r:id="rId4"/>
              </a:rPr>
              <a:t> M. A. Ahmed | Medium</a:t>
            </a:r>
            <a:br>
              <a:rPr lang="en-US" sz="2000" dirty="0">
                <a:latin typeface="+mn-lt"/>
              </a:rPr>
            </a:br>
            <a:br>
              <a:rPr lang="en-US" sz="2000" dirty="0">
                <a:latin typeface="+mn-lt"/>
              </a:rPr>
            </a:br>
            <a:r>
              <a:rPr lang="en-US" sz="2000" dirty="0">
                <a:latin typeface="+mn-lt"/>
                <a:hlinkClick r:id="rId5"/>
              </a:rPr>
              <a:t>What is the difference between an undirected and a directed Graph? – </a:t>
            </a:r>
            <a:r>
              <a:rPr lang="en-US" sz="2000" dirty="0" err="1">
                <a:latin typeface="+mn-lt"/>
                <a:hlinkClick r:id="rId5"/>
              </a:rPr>
              <a:t>GeeksforGeeks</a:t>
            </a:r>
            <a:br>
              <a:rPr lang="en-US" sz="2000" dirty="0">
                <a:latin typeface="+mn-lt"/>
              </a:rPr>
            </a:br>
            <a:br>
              <a:rPr lang="nn-NO" sz="2000" dirty="0">
                <a:latin typeface="+mn-lt"/>
              </a:rPr>
            </a:br>
            <a:r>
              <a:rPr lang="en-US" sz="2000" dirty="0">
                <a:latin typeface="+mn-lt"/>
                <a:hlinkClick r:id="rId6"/>
              </a:rPr>
              <a:t>Drawing — </a:t>
            </a:r>
            <a:r>
              <a:rPr lang="en-US" sz="2000" dirty="0" err="1">
                <a:latin typeface="+mn-lt"/>
                <a:hlinkClick r:id="rId6"/>
              </a:rPr>
              <a:t>NetworkX</a:t>
            </a:r>
            <a:r>
              <a:rPr lang="en-US" sz="2000" dirty="0">
                <a:latin typeface="+mn-lt"/>
                <a:hlinkClick r:id="rId6"/>
              </a:rPr>
              <a:t> 3.2.1 documentation</a:t>
            </a:r>
            <a:br>
              <a:rPr lang="en-US" sz="2000" dirty="0">
                <a:latin typeface="+mn-lt"/>
              </a:rPr>
            </a:br>
            <a:br>
              <a:rPr lang="en-US" sz="2000" dirty="0">
                <a:latin typeface="+mn-lt"/>
              </a:rPr>
            </a:br>
            <a:r>
              <a:rPr lang="en-US" sz="2000" dirty="0">
                <a:latin typeface="+mn-lt"/>
                <a:hlinkClick r:id="rId7"/>
              </a:rPr>
              <a:t>Introduction to Graph Neural Network with </a:t>
            </a:r>
            <a:r>
              <a:rPr lang="en-US" sz="2000" dirty="0" err="1">
                <a:latin typeface="+mn-lt"/>
                <a:hlinkClick r:id="rId7"/>
              </a:rPr>
              <a:t>Pytorch</a:t>
            </a:r>
            <a:r>
              <a:rPr lang="en-US" sz="2000" dirty="0">
                <a:latin typeface="+mn-lt"/>
                <a:hlinkClick r:id="rId7"/>
              </a:rPr>
              <a:t> | Kaggle</a:t>
            </a:r>
            <a:br>
              <a:rPr lang="en-US" sz="2000" dirty="0">
                <a:latin typeface="+mn-lt"/>
              </a:rPr>
            </a:br>
            <a:br>
              <a:rPr lang="en-US" sz="2000" dirty="0">
                <a:latin typeface="+mn-lt"/>
              </a:rPr>
            </a:br>
            <a:r>
              <a:rPr lang="en-US" sz="2000" dirty="0">
                <a:latin typeface="+mn-lt"/>
                <a:hlinkClick r:id="rId8"/>
              </a:rPr>
              <a:t>Understanding Message Passing in Graph Neural Networks | by Rajeev Chandran | Medium</a:t>
            </a:r>
            <a:endParaRPr lang="en-US" sz="2000" b="1" dirty="0">
              <a:latin typeface="+mn-lt"/>
            </a:endParaRPr>
          </a:p>
        </p:txBody>
      </p:sp>
    </p:spTree>
    <p:extLst>
      <p:ext uri="{BB962C8B-B14F-4D97-AF65-F5344CB8AC3E}">
        <p14:creationId xmlns:p14="http://schemas.microsoft.com/office/powerpoint/2010/main" val="3778936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560EA-8586-3FA8-B4EE-9286B67F71A3}"/>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A14E9B4E-E6F8-4987-D65A-B12E0C8EECD3}"/>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Lab examples</a:t>
            </a:r>
            <a:endParaRPr lang="en-US" sz="2800" dirty="0">
              <a:solidFill>
                <a:srgbClr val="0070C0"/>
              </a:solidFill>
            </a:endParaRPr>
          </a:p>
        </p:txBody>
      </p:sp>
      <p:sp>
        <p:nvSpPr>
          <p:cNvPr id="5" name="Title 4">
            <a:extLst>
              <a:ext uri="{FF2B5EF4-FFF2-40B4-BE49-F238E27FC236}">
                <a16:creationId xmlns:a16="http://schemas.microsoft.com/office/drawing/2014/main" id="{5A7EBD10-3919-994C-EF79-7C49F7E2A0FA}"/>
              </a:ext>
            </a:extLst>
          </p:cNvPr>
          <p:cNvSpPr>
            <a:spLocks noGrp="1"/>
          </p:cNvSpPr>
          <p:nvPr>
            <p:ph type="ctrTitle"/>
          </p:nvPr>
        </p:nvSpPr>
        <p:spPr>
          <a:xfrm>
            <a:off x="254000" y="889001"/>
            <a:ext cx="11540067" cy="5147905"/>
          </a:xfrm>
        </p:spPr>
        <p:txBody>
          <a:bodyPr>
            <a:noAutofit/>
          </a:bodyPr>
          <a:lstStyle/>
          <a:p>
            <a:pPr marL="285750" indent="-285750" algn="l">
              <a:buFont typeface="Wingdings" panose="05000000000000000000" pitchFamily="2" charset="2"/>
              <a:buChar char="§"/>
            </a:pPr>
            <a:r>
              <a:rPr lang="en-US" sz="2000" b="1" dirty="0">
                <a:latin typeface="+mn-lt"/>
              </a:rPr>
              <a:t>Lab2025 - </a:t>
            </a:r>
            <a:r>
              <a:rPr lang="en-US" sz="2000" b="1" dirty="0" err="1">
                <a:latin typeface="+mn-lt"/>
              </a:rPr>
              <a:t>NetworkX</a:t>
            </a:r>
            <a:r>
              <a:rPr lang="en-US" sz="2000" b="1" dirty="0">
                <a:latin typeface="+mn-lt"/>
              </a:rPr>
              <a:t> - </a:t>
            </a:r>
            <a:r>
              <a:rPr lang="en-US" sz="2000" b="0" i="0" dirty="0">
                <a:solidFill>
                  <a:srgbClr val="1F1F1F"/>
                </a:solidFill>
                <a:effectLst/>
                <a:latin typeface="+mn-lt"/>
              </a:rPr>
              <a:t>This guide can help you start working with </a:t>
            </a:r>
            <a:r>
              <a:rPr lang="en-US" sz="2000" b="0" i="0" dirty="0" err="1">
                <a:solidFill>
                  <a:srgbClr val="1F1F1F"/>
                </a:solidFill>
                <a:effectLst/>
                <a:latin typeface="+mn-lt"/>
              </a:rPr>
              <a:t>NetworkX</a:t>
            </a:r>
            <a:r>
              <a:rPr lang="en-US" sz="2000" b="0" i="0" dirty="0">
                <a:solidFill>
                  <a:srgbClr val="1F1F1F"/>
                </a:solidFill>
                <a:effectLst/>
                <a:latin typeface="+mn-lt"/>
              </a:rPr>
              <a:t>.</a:t>
            </a:r>
            <a:br>
              <a:rPr lang="en-US" sz="2000" b="0" i="0" dirty="0">
                <a:solidFill>
                  <a:srgbClr val="1F1F1F"/>
                </a:solidFill>
                <a:effectLst/>
                <a:latin typeface="+mn-lt"/>
              </a:rPr>
            </a:br>
            <a:br>
              <a:rPr lang="en-US" sz="2000" b="1" dirty="0">
                <a:latin typeface="+mn-lt"/>
              </a:rPr>
            </a:br>
            <a:r>
              <a:rPr lang="en-US" sz="2000" dirty="0">
                <a:latin typeface="+mn-lt"/>
                <a:hlinkClick r:id="rId2"/>
              </a:rPr>
              <a:t>Petersen graph – Wikipedia</a:t>
            </a:r>
            <a:br>
              <a:rPr lang="en-US" sz="2000" dirty="0">
                <a:latin typeface="+mn-lt"/>
              </a:rPr>
            </a:br>
            <a:br>
              <a:rPr lang="en-US" sz="2000" b="1" dirty="0">
                <a:latin typeface="+mn-lt"/>
              </a:rPr>
            </a:br>
            <a:r>
              <a:rPr lang="en-US" sz="2000" b="1" dirty="0">
                <a:latin typeface="+mn-lt"/>
              </a:rPr>
              <a:t>Lab 6 Shortest Path - </a:t>
            </a:r>
            <a:r>
              <a:rPr lang="en-US" sz="2000" dirty="0" err="1">
                <a:latin typeface="+mn-lt"/>
                <a:hlinkClick r:id="rId3"/>
              </a:rPr>
              <a:t>NetworkX</a:t>
            </a:r>
            <a:r>
              <a:rPr lang="en-US" sz="2000" dirty="0">
                <a:latin typeface="+mn-lt"/>
                <a:hlinkClick r:id="rId3"/>
              </a:rPr>
              <a:t> — </a:t>
            </a:r>
            <a:r>
              <a:rPr lang="en-US" sz="2000" dirty="0" err="1">
                <a:latin typeface="+mn-lt"/>
                <a:hlinkClick r:id="rId3"/>
              </a:rPr>
              <a:t>NetworkX</a:t>
            </a:r>
            <a:r>
              <a:rPr lang="en-US" sz="2000" dirty="0">
                <a:latin typeface="+mn-lt"/>
                <a:hlinkClick r:id="rId3"/>
              </a:rPr>
              <a:t> documentation</a:t>
            </a:r>
            <a:r>
              <a:rPr lang="en-US" sz="2000" dirty="0">
                <a:latin typeface="+mn-lt"/>
              </a:rPr>
              <a:t> / </a:t>
            </a:r>
            <a:r>
              <a:rPr lang="en-US" sz="2000" dirty="0">
                <a:latin typeface="+mn-lt"/>
                <a:hlinkClick r:id="rId4"/>
              </a:rPr>
              <a:t>GitHub - </a:t>
            </a:r>
            <a:r>
              <a:rPr lang="en-US" sz="2000" dirty="0" err="1">
                <a:latin typeface="+mn-lt"/>
                <a:hlinkClick r:id="rId4"/>
              </a:rPr>
              <a:t>networkx</a:t>
            </a:r>
            <a:r>
              <a:rPr lang="en-US" sz="2000" dirty="0">
                <a:latin typeface="+mn-lt"/>
                <a:hlinkClick r:id="rId4"/>
              </a:rPr>
              <a:t>/</a:t>
            </a:r>
            <a:r>
              <a:rPr lang="en-US" sz="2000" dirty="0" err="1">
                <a:latin typeface="+mn-lt"/>
                <a:hlinkClick r:id="rId4"/>
              </a:rPr>
              <a:t>networkx</a:t>
            </a:r>
            <a:r>
              <a:rPr lang="en-US" sz="2000" dirty="0">
                <a:latin typeface="+mn-lt"/>
                <a:hlinkClick r:id="rId4"/>
              </a:rPr>
              <a:t>: Network Analysis in Python</a:t>
            </a:r>
            <a:br>
              <a:rPr lang="en-US" sz="2000" dirty="0">
                <a:latin typeface="+mn-lt"/>
              </a:rPr>
            </a:br>
            <a:br>
              <a:rPr lang="en-US" sz="2000" dirty="0">
                <a:latin typeface="+mn-lt"/>
              </a:rPr>
            </a:br>
            <a:r>
              <a:rPr lang="en-US" sz="2000" b="1" dirty="0">
                <a:latin typeface="+mn-lt"/>
              </a:rPr>
              <a:t>Lab7_2024 </a:t>
            </a:r>
            <a:r>
              <a:rPr lang="en-US" sz="2000" dirty="0" err="1">
                <a:latin typeface="+mn-lt"/>
                <a:hlinkClick r:id="rId5"/>
              </a:rPr>
              <a:t>PyG</a:t>
            </a:r>
            <a:r>
              <a:rPr lang="en-US" sz="2000" dirty="0">
                <a:latin typeface="+mn-lt"/>
                <a:hlinkClick r:id="rId5"/>
              </a:rPr>
              <a:t> Documentation — </a:t>
            </a:r>
            <a:r>
              <a:rPr lang="en-US" sz="2000" dirty="0" err="1">
                <a:latin typeface="+mn-lt"/>
                <a:hlinkClick r:id="rId5"/>
              </a:rPr>
              <a:t>pytorch_geometric</a:t>
            </a:r>
            <a:r>
              <a:rPr lang="en-US" sz="2000" dirty="0">
                <a:latin typeface="+mn-lt"/>
                <a:hlinkClick r:id="rId5"/>
              </a:rPr>
              <a:t> documentation</a:t>
            </a:r>
            <a:r>
              <a:rPr lang="en-US" sz="2000" dirty="0">
                <a:latin typeface="+mn-lt"/>
              </a:rPr>
              <a:t> – takes longer to run</a:t>
            </a:r>
            <a:br>
              <a:rPr lang="en-US" sz="2000" dirty="0">
                <a:latin typeface="+mn-lt"/>
              </a:rPr>
            </a:br>
            <a:br>
              <a:rPr lang="en-US" sz="2000" dirty="0">
                <a:latin typeface="+mn-lt"/>
              </a:rPr>
            </a:br>
            <a:br>
              <a:rPr lang="en-US" sz="2000" b="0" i="0" dirty="0">
                <a:solidFill>
                  <a:srgbClr val="1F1F1F"/>
                </a:solidFill>
                <a:effectLst/>
                <a:latin typeface="+mn-lt"/>
              </a:rPr>
            </a:br>
            <a:r>
              <a:rPr lang="en-US" sz="2000" b="0" i="0" dirty="0">
                <a:solidFill>
                  <a:srgbClr val="1F1F1F"/>
                </a:solidFill>
                <a:effectLst/>
                <a:latin typeface="+mn-lt"/>
              </a:rPr>
              <a:t>Chapter 18 – part 1</a:t>
            </a:r>
            <a:br>
              <a:rPr lang="en-US" sz="2000" b="0" i="0" dirty="0">
                <a:solidFill>
                  <a:srgbClr val="1F1F1F"/>
                </a:solidFill>
                <a:effectLst/>
                <a:latin typeface="+mn-lt"/>
              </a:rPr>
            </a:br>
            <a:r>
              <a:rPr lang="en-US" sz="2000" b="0" i="0" dirty="0">
                <a:solidFill>
                  <a:srgbClr val="1F1F1F"/>
                </a:solidFill>
                <a:effectLst/>
                <a:latin typeface="+mn-lt"/>
              </a:rPr>
              <a:t>Chapter 18 – part 2</a:t>
            </a:r>
            <a:br>
              <a:rPr lang="en-US" sz="2000" b="0" i="0" dirty="0">
                <a:solidFill>
                  <a:srgbClr val="1F1F1F"/>
                </a:solidFill>
                <a:effectLst/>
                <a:latin typeface="+mn-lt"/>
              </a:rPr>
            </a:br>
            <a:br>
              <a:rPr lang="en-US" sz="2000" b="0" i="0" dirty="0">
                <a:solidFill>
                  <a:srgbClr val="1F1F1F"/>
                </a:solidFill>
                <a:effectLst/>
                <a:latin typeface="+mn-lt"/>
              </a:rPr>
            </a:br>
            <a:r>
              <a:rPr lang="en-US" sz="2000" b="0" i="0" dirty="0">
                <a:solidFill>
                  <a:srgbClr val="1F1F1F"/>
                </a:solidFill>
                <a:effectLst/>
                <a:latin typeface="+mn-lt"/>
              </a:rPr>
              <a:t>Both files were uploaded</a:t>
            </a:r>
            <a:br>
              <a:rPr lang="en-US" sz="2000" b="1" dirty="0">
                <a:latin typeface="+mn-lt"/>
              </a:rPr>
            </a:br>
            <a:br>
              <a:rPr lang="en-US" sz="2000" b="1" dirty="0">
                <a:latin typeface="+mn-lt"/>
              </a:rPr>
            </a:br>
            <a:br>
              <a:rPr lang="en-US" sz="1800" b="1" dirty="0">
                <a:latin typeface="+mn-lt"/>
              </a:rPr>
            </a:br>
            <a:br>
              <a:rPr lang="en-US" sz="1800" b="1" dirty="0">
                <a:latin typeface="+mn-lt"/>
              </a:rPr>
            </a:br>
            <a:endParaRPr lang="en-US" sz="1800" b="1" dirty="0">
              <a:latin typeface="+mn-lt"/>
            </a:endParaRPr>
          </a:p>
        </p:txBody>
      </p:sp>
    </p:spTree>
    <p:extLst>
      <p:ext uri="{BB962C8B-B14F-4D97-AF65-F5344CB8AC3E}">
        <p14:creationId xmlns:p14="http://schemas.microsoft.com/office/powerpoint/2010/main" val="1001372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5DBF3-EFE3-E61B-FA3A-4631439D8DE1}"/>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5AC428AD-56D3-E7EB-3B63-95C7DED0A045}"/>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a:solidFill>
                  <a:srgbClr val="0070C0"/>
                </a:solidFill>
                <a:latin typeface="Calibri" panose="020F0502020204030204" pitchFamily="34" charset="0"/>
                <a:ea typeface="Calibri" panose="020F0502020204030204" pitchFamily="34" charset="0"/>
                <a:cs typeface="Calibri" panose="020F0502020204030204" pitchFamily="34" charset="0"/>
              </a:rPr>
              <a:t>HW 7 - HINTS</a:t>
            </a:r>
            <a:endParaRPr lang="en-US" sz="2800" dirty="0">
              <a:solidFill>
                <a:srgbClr val="0070C0"/>
              </a:solidFill>
            </a:endParaRPr>
          </a:p>
        </p:txBody>
      </p:sp>
      <p:sp>
        <p:nvSpPr>
          <p:cNvPr id="5" name="Title 4">
            <a:extLst>
              <a:ext uri="{FF2B5EF4-FFF2-40B4-BE49-F238E27FC236}">
                <a16:creationId xmlns:a16="http://schemas.microsoft.com/office/drawing/2014/main" id="{A73F928E-4AEA-F69A-C699-7015BC72E3A6}"/>
              </a:ext>
            </a:extLst>
          </p:cNvPr>
          <p:cNvSpPr>
            <a:spLocks noGrp="1"/>
          </p:cNvSpPr>
          <p:nvPr>
            <p:ph type="ctrTitle"/>
          </p:nvPr>
        </p:nvSpPr>
        <p:spPr>
          <a:xfrm>
            <a:off x="254000" y="889001"/>
            <a:ext cx="11540067" cy="5577114"/>
          </a:xfrm>
        </p:spPr>
        <p:txBody>
          <a:bodyPr>
            <a:noAutofit/>
          </a:bodyPr>
          <a:lstStyle/>
          <a:p>
            <a:pPr marL="285750" indent="-285750" algn="l">
              <a:buFont typeface="Wingdings" panose="05000000000000000000" pitchFamily="2" charset="2"/>
              <a:buChar char="§"/>
            </a:pPr>
            <a:r>
              <a:rPr lang="en-US" sz="1800" b="1" dirty="0">
                <a:latin typeface="+mn-lt"/>
              </a:rPr>
              <a:t>P1 and P2 </a:t>
            </a:r>
            <a:br>
              <a:rPr lang="en-US" sz="1800" b="1" dirty="0">
                <a:latin typeface="+mn-lt"/>
              </a:rPr>
            </a:br>
            <a:br>
              <a:rPr lang="en-US" sz="1800" b="1" dirty="0">
                <a:latin typeface="+mn-lt"/>
              </a:rPr>
            </a:br>
            <a:r>
              <a:rPr lang="en-US" sz="1800" dirty="0">
                <a:highlight>
                  <a:srgbClr val="FFFF00"/>
                </a:highlight>
                <a:latin typeface="+mn-lt"/>
              </a:rPr>
              <a:t>A permutation matrix is a square binary matrix with exactly one '1' in each row and column, and '0's elsewhere, used to rearrange (permute) the rows or columns of another matrix via multiplication</a:t>
            </a:r>
            <a:br>
              <a:rPr lang="en-US" sz="1800" dirty="0">
                <a:latin typeface="+mn-lt"/>
              </a:rPr>
            </a:br>
            <a:br>
              <a:rPr lang="en-US" sz="1800" dirty="0">
                <a:latin typeface="+mn-lt"/>
              </a:rPr>
            </a:br>
            <a:r>
              <a:rPr lang="en-US" sz="1800" dirty="0">
                <a:latin typeface="+mn-lt"/>
              </a:rPr>
              <a:t># Original adjacency matrix</a:t>
            </a:r>
            <a:br>
              <a:rPr lang="en-US" sz="1800" dirty="0">
                <a:latin typeface="+mn-lt"/>
              </a:rPr>
            </a:br>
            <a:r>
              <a:rPr lang="en-US" sz="1800" dirty="0" err="1">
                <a:latin typeface="+mn-lt"/>
              </a:rPr>
              <a:t>nx.adjacency_matrix</a:t>
            </a:r>
            <a:br>
              <a:rPr lang="en-US" sz="1800" dirty="0">
                <a:latin typeface="+mn-lt"/>
              </a:rPr>
            </a:br>
            <a:br>
              <a:rPr lang="en-US" sz="1800" dirty="0">
                <a:latin typeface="+mn-lt"/>
              </a:rPr>
            </a:br>
            <a:r>
              <a:rPr lang="en-US" sz="1800" dirty="0">
                <a:latin typeface="+mn-lt"/>
              </a:rPr>
              <a:t># Permutation matrix P for relabeling nodes (1,2,3,4,5) to (5,1,3,2,4)</a:t>
            </a:r>
            <a:br>
              <a:rPr lang="en-US" sz="1800" dirty="0">
                <a:latin typeface="+mn-lt"/>
              </a:rPr>
            </a:br>
            <a:r>
              <a:rPr lang="en-US" sz="1800" dirty="0">
                <a:latin typeface="+mn-lt"/>
              </a:rPr>
              <a:t># Draw the graph</a:t>
            </a:r>
            <a:br>
              <a:rPr lang="en-US" sz="1800" dirty="0">
                <a:latin typeface="+mn-lt"/>
              </a:rPr>
            </a:br>
            <a:br>
              <a:rPr lang="en-US" sz="1800" dirty="0">
                <a:latin typeface="+mn-lt"/>
              </a:rPr>
            </a:br>
            <a:r>
              <a:rPr lang="en-US" sz="1800" dirty="0">
                <a:latin typeface="+mn-lt"/>
              </a:rPr>
              <a:t># Compute the adjacency matrix of the permuted graph</a:t>
            </a:r>
            <a:br>
              <a:rPr lang="en-US" sz="1800" dirty="0">
                <a:latin typeface="+mn-lt"/>
              </a:rPr>
            </a:br>
            <a:r>
              <a:rPr lang="en-US" sz="1800" dirty="0">
                <a:latin typeface="+mn-lt"/>
              </a:rPr>
              <a:t>#perform matric multiplications</a:t>
            </a:r>
            <a:br>
              <a:rPr lang="en-US" sz="1800" dirty="0">
                <a:latin typeface="+mn-lt"/>
              </a:rPr>
            </a:br>
            <a:r>
              <a:rPr lang="en-US" sz="1800" dirty="0" err="1">
                <a:latin typeface="+mn-lt"/>
              </a:rPr>
              <a:t>P_t</a:t>
            </a:r>
            <a:r>
              <a:rPr lang="en-US" sz="1800" dirty="0">
                <a:latin typeface="+mn-lt"/>
              </a:rPr>
              <a:t> = P.t()</a:t>
            </a:r>
            <a:br>
              <a:rPr lang="en-US" sz="1800" dirty="0">
                <a:latin typeface="+mn-lt"/>
              </a:rPr>
            </a:br>
            <a:r>
              <a:rPr lang="en-US" sz="1800" dirty="0">
                <a:latin typeface="+mn-lt"/>
              </a:rPr>
              <a:t>A_perm_step1 = </a:t>
            </a:r>
            <a:r>
              <a:rPr lang="en-US" sz="1800" dirty="0" err="1">
                <a:latin typeface="+mn-lt"/>
              </a:rPr>
              <a:t>torch.matmul</a:t>
            </a:r>
            <a:r>
              <a:rPr lang="en-US" sz="1800" dirty="0">
                <a:latin typeface="+mn-lt"/>
              </a:rPr>
              <a:t>(P, </a:t>
            </a:r>
            <a:r>
              <a:rPr lang="en-US" sz="1800" dirty="0" err="1">
                <a:latin typeface="+mn-lt"/>
              </a:rPr>
              <a:t>A_orig</a:t>
            </a:r>
            <a:r>
              <a:rPr lang="en-US" sz="1800" dirty="0">
                <a:latin typeface="+mn-lt"/>
              </a:rPr>
              <a:t>)</a:t>
            </a:r>
            <a:br>
              <a:rPr lang="en-US" sz="1800" dirty="0">
                <a:latin typeface="+mn-lt"/>
              </a:rPr>
            </a:br>
            <a:r>
              <a:rPr lang="en-US" sz="1800" dirty="0" err="1">
                <a:latin typeface="+mn-lt"/>
              </a:rPr>
              <a:t>A_perm</a:t>
            </a:r>
            <a:r>
              <a:rPr lang="en-US" sz="1800" dirty="0">
                <a:latin typeface="+mn-lt"/>
              </a:rPr>
              <a:t> = </a:t>
            </a:r>
            <a:r>
              <a:rPr lang="en-US" sz="1800" dirty="0" err="1">
                <a:latin typeface="+mn-lt"/>
              </a:rPr>
              <a:t>torch.matmul</a:t>
            </a:r>
            <a:r>
              <a:rPr lang="en-US" sz="1800" dirty="0">
                <a:latin typeface="+mn-lt"/>
              </a:rPr>
              <a:t>(A_perm_step1, </a:t>
            </a:r>
            <a:r>
              <a:rPr lang="en-US" sz="1800" dirty="0" err="1">
                <a:latin typeface="+mn-lt"/>
              </a:rPr>
              <a:t>P_t</a:t>
            </a:r>
            <a:r>
              <a:rPr lang="en-US" sz="1800" dirty="0">
                <a:latin typeface="+mn-lt"/>
              </a:rPr>
              <a:t>)</a:t>
            </a:r>
            <a:br>
              <a:rPr lang="en-US" sz="1800" dirty="0">
                <a:latin typeface="+mn-lt"/>
              </a:rPr>
            </a:br>
            <a:br>
              <a:rPr lang="en-US" sz="1800" dirty="0">
                <a:latin typeface="+mn-lt"/>
              </a:rPr>
            </a:br>
            <a:r>
              <a:rPr lang="en-US" sz="1800" dirty="0">
                <a:latin typeface="+mn-lt"/>
              </a:rPr>
              <a:t># Check if the permuted adjacency matrix is identical to the original</a:t>
            </a:r>
            <a:br>
              <a:rPr lang="en-US" sz="1800" dirty="0">
                <a:latin typeface="+mn-lt"/>
              </a:rPr>
            </a:br>
            <a:br>
              <a:rPr lang="en-US" sz="1800" dirty="0">
                <a:latin typeface="+mn-lt"/>
              </a:rPr>
            </a:br>
            <a:r>
              <a:rPr lang="en-US" sz="1800" dirty="0">
                <a:latin typeface="+mn-lt"/>
              </a:rPr>
              <a:t>print(</a:t>
            </a:r>
            <a:r>
              <a:rPr lang="en-US" sz="1800" dirty="0" err="1">
                <a:latin typeface="+mn-lt"/>
              </a:rPr>
              <a:t>torch.equal</a:t>
            </a:r>
            <a:r>
              <a:rPr lang="en-US" sz="1800" dirty="0">
                <a:latin typeface="+mn-lt"/>
              </a:rPr>
              <a:t>(</a:t>
            </a:r>
            <a:r>
              <a:rPr lang="en-US" sz="1800" dirty="0" err="1">
                <a:latin typeface="+mn-lt"/>
              </a:rPr>
              <a:t>A_perm</a:t>
            </a:r>
            <a:r>
              <a:rPr lang="en-US" sz="1800" dirty="0">
                <a:latin typeface="+mn-lt"/>
              </a:rPr>
              <a:t>, </a:t>
            </a:r>
            <a:r>
              <a:rPr lang="en-US" sz="1800" dirty="0" err="1">
                <a:latin typeface="+mn-lt"/>
              </a:rPr>
              <a:t>A_orig</a:t>
            </a:r>
            <a:r>
              <a:rPr lang="en-US" sz="1800" dirty="0">
                <a:latin typeface="+mn-lt"/>
              </a:rPr>
              <a:t>))</a:t>
            </a:r>
            <a:br>
              <a:rPr lang="en-US" sz="1800" b="1" dirty="0">
                <a:latin typeface="+mn-lt"/>
              </a:rPr>
            </a:br>
            <a:endParaRPr lang="en-US" sz="1800" b="1" dirty="0">
              <a:latin typeface="+mn-lt"/>
            </a:endParaRPr>
          </a:p>
        </p:txBody>
      </p:sp>
      <p:pic>
        <p:nvPicPr>
          <p:cNvPr id="4" name="Picture 3">
            <a:extLst>
              <a:ext uri="{FF2B5EF4-FFF2-40B4-BE49-F238E27FC236}">
                <a16:creationId xmlns:a16="http://schemas.microsoft.com/office/drawing/2014/main" id="{4CC8D49F-91B7-0C21-E29C-46778F9971CA}"/>
              </a:ext>
            </a:extLst>
          </p:cNvPr>
          <p:cNvPicPr>
            <a:picLocks noChangeAspect="1"/>
          </p:cNvPicPr>
          <p:nvPr/>
        </p:nvPicPr>
        <p:blipFill>
          <a:blip r:embed="rId2"/>
          <a:stretch>
            <a:fillRect/>
          </a:stretch>
        </p:blipFill>
        <p:spPr>
          <a:xfrm>
            <a:off x="5021369" y="4350685"/>
            <a:ext cx="6548764" cy="754842"/>
          </a:xfrm>
          <a:prstGeom prst="rect">
            <a:avLst/>
          </a:prstGeom>
        </p:spPr>
      </p:pic>
    </p:spTree>
    <p:extLst>
      <p:ext uri="{BB962C8B-B14F-4D97-AF65-F5344CB8AC3E}">
        <p14:creationId xmlns:p14="http://schemas.microsoft.com/office/powerpoint/2010/main" val="2185545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D0714-271D-6D78-5BBE-A4C52FCEE6DD}"/>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839F250D-F71C-56C6-A592-3CAEDB93A887}"/>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HW 7</a:t>
            </a:r>
            <a:endParaRPr lang="en-US" sz="2800" dirty="0">
              <a:solidFill>
                <a:srgbClr val="0070C0"/>
              </a:solidFill>
            </a:endParaRPr>
          </a:p>
        </p:txBody>
      </p:sp>
      <p:sp>
        <p:nvSpPr>
          <p:cNvPr id="5" name="Title 4">
            <a:extLst>
              <a:ext uri="{FF2B5EF4-FFF2-40B4-BE49-F238E27FC236}">
                <a16:creationId xmlns:a16="http://schemas.microsoft.com/office/drawing/2014/main" id="{2435F7FC-0901-D187-8031-7F0CBE979162}"/>
              </a:ext>
            </a:extLst>
          </p:cNvPr>
          <p:cNvSpPr>
            <a:spLocks noGrp="1"/>
          </p:cNvSpPr>
          <p:nvPr>
            <p:ph type="ctrTitle"/>
          </p:nvPr>
        </p:nvSpPr>
        <p:spPr>
          <a:xfrm>
            <a:off x="254000" y="889001"/>
            <a:ext cx="11540067" cy="5605105"/>
          </a:xfrm>
        </p:spPr>
        <p:txBody>
          <a:bodyPr>
            <a:noAutofit/>
          </a:bodyPr>
          <a:lstStyle/>
          <a:p>
            <a:pPr marL="285750" indent="-285750" algn="l">
              <a:buFont typeface="Wingdings" panose="05000000000000000000" pitchFamily="2" charset="2"/>
              <a:buChar char="§"/>
            </a:pPr>
            <a:r>
              <a:rPr lang="en-US" sz="1600" b="1" dirty="0">
                <a:latin typeface="+mn-lt"/>
              </a:rPr>
              <a:t>P3</a:t>
            </a:r>
            <a:br>
              <a:rPr lang="en-US" sz="1600" b="1" dirty="0">
                <a:latin typeface="+mn-lt"/>
              </a:rPr>
            </a:br>
            <a:br>
              <a:rPr lang="en-US" sz="1600" b="1" dirty="0">
                <a:latin typeface="+mn-lt"/>
              </a:rPr>
            </a:br>
            <a:r>
              <a:rPr lang="en-US" sz="1600" dirty="0">
                <a:latin typeface="+mn-lt"/>
              </a:rPr>
              <a:t>//assign weights</a:t>
            </a:r>
            <a:br>
              <a:rPr lang="en-US" sz="1600" dirty="0">
                <a:latin typeface="+mn-lt"/>
              </a:rPr>
            </a:br>
            <a:r>
              <a:rPr lang="en-US" sz="1600" dirty="0" err="1">
                <a:latin typeface="+mn-lt"/>
              </a:rPr>
              <a:t>G_orig.edges</a:t>
            </a:r>
            <a:r>
              <a:rPr lang="en-US" sz="1600" dirty="0">
                <a:latin typeface="+mn-lt"/>
              </a:rPr>
              <a:t>[edge]['weight'] = TBD</a:t>
            </a:r>
            <a:br>
              <a:rPr lang="en-US" sz="1600" dirty="0">
                <a:latin typeface="+mn-lt"/>
              </a:rPr>
            </a:br>
            <a:br>
              <a:rPr lang="en-US" sz="1600" dirty="0">
                <a:latin typeface="+mn-lt"/>
              </a:rPr>
            </a:br>
            <a:r>
              <a:rPr lang="en-US" sz="1600" dirty="0" err="1">
                <a:highlight>
                  <a:srgbClr val="FFFF00"/>
                </a:highlight>
                <a:latin typeface="+mn-lt"/>
              </a:rPr>
              <a:t>G</a:t>
            </a:r>
            <a:r>
              <a:rPr lang="en-US" sz="1600" b="1" dirty="0" err="1">
                <a:highlight>
                  <a:srgbClr val="FFFF00"/>
                </a:highlight>
                <a:latin typeface="+mn-lt"/>
              </a:rPr>
              <a:t>.</a:t>
            </a:r>
            <a:r>
              <a:rPr lang="en-US" sz="1600" dirty="0" err="1">
                <a:highlight>
                  <a:srgbClr val="FFFF00"/>
                </a:highlight>
                <a:latin typeface="+mn-lt"/>
              </a:rPr>
              <a:t>edges</a:t>
            </a:r>
            <a:r>
              <a:rPr lang="en-US" sz="1600" dirty="0">
                <a:highlight>
                  <a:srgbClr val="FFFF00"/>
                </a:highlight>
                <a:latin typeface="+mn-lt"/>
              </a:rPr>
              <a:t>[e]['weight'] </a:t>
            </a:r>
            <a:r>
              <a:rPr lang="en-US" sz="1600" b="1" dirty="0">
                <a:highlight>
                  <a:srgbClr val="FFFF00"/>
                </a:highlight>
                <a:latin typeface="+mn-lt"/>
              </a:rPr>
              <a:t>=</a:t>
            </a:r>
            <a:r>
              <a:rPr lang="en-US" sz="1600" dirty="0">
                <a:highlight>
                  <a:srgbClr val="FFFF00"/>
                </a:highlight>
                <a:latin typeface="+mn-lt"/>
              </a:rPr>
              <a:t> (</a:t>
            </a:r>
            <a:r>
              <a:rPr lang="en-US" sz="1600" dirty="0" err="1">
                <a:highlight>
                  <a:srgbClr val="FFFF00"/>
                </a:highlight>
                <a:latin typeface="+mn-lt"/>
              </a:rPr>
              <a:t>i</a:t>
            </a:r>
            <a:r>
              <a:rPr lang="en-US" sz="1600" b="1" dirty="0">
                <a:highlight>
                  <a:srgbClr val="FFFF00"/>
                </a:highlight>
                <a:latin typeface="+mn-lt"/>
              </a:rPr>
              <a:t>-</a:t>
            </a:r>
            <a:r>
              <a:rPr lang="en-US" sz="1600" dirty="0">
                <a:highlight>
                  <a:srgbClr val="FFFF00"/>
                </a:highlight>
                <a:latin typeface="+mn-lt"/>
              </a:rPr>
              <a:t>j)</a:t>
            </a:r>
            <a:r>
              <a:rPr lang="en-US" sz="1600" b="1" dirty="0">
                <a:highlight>
                  <a:srgbClr val="FFFF00"/>
                </a:highlight>
                <a:latin typeface="+mn-lt"/>
              </a:rPr>
              <a:t>**</a:t>
            </a:r>
            <a:r>
              <a:rPr lang="en-US" sz="1600" dirty="0">
                <a:highlight>
                  <a:srgbClr val="FFFF00"/>
                </a:highlight>
                <a:latin typeface="+mn-lt"/>
              </a:rPr>
              <a:t>2</a:t>
            </a:r>
            <a:br>
              <a:rPr lang="en-US" sz="1600" dirty="0">
                <a:latin typeface="+mn-lt"/>
              </a:rPr>
            </a:br>
            <a:br>
              <a:rPr lang="en-US" sz="1600" dirty="0">
                <a:latin typeface="+mn-lt"/>
              </a:rPr>
            </a:br>
            <a:br>
              <a:rPr lang="en-US" sz="1600" dirty="0">
                <a:latin typeface="+mn-lt"/>
              </a:rPr>
            </a:br>
            <a:r>
              <a:rPr lang="en-US" sz="1600" dirty="0">
                <a:latin typeface="+mn-lt"/>
              </a:rPr>
              <a:t>//calculate average weight</a:t>
            </a:r>
            <a:br>
              <a:rPr lang="en-US" sz="1600" dirty="0">
                <a:latin typeface="+mn-lt"/>
              </a:rPr>
            </a:br>
            <a:r>
              <a:rPr lang="en-US" sz="1600" dirty="0">
                <a:latin typeface="+mn-lt"/>
              </a:rPr>
              <a:t>return </a:t>
            </a:r>
            <a:r>
              <a:rPr lang="en-US" sz="1600" dirty="0" err="1">
                <a:latin typeface="+mn-lt"/>
              </a:rPr>
              <a:t>np.mean</a:t>
            </a:r>
            <a:r>
              <a:rPr lang="en-US" sz="1600" dirty="0">
                <a:latin typeface="+mn-lt"/>
              </a:rPr>
              <a:t>(weights)</a:t>
            </a:r>
            <a:br>
              <a:rPr lang="en-US" sz="1600" dirty="0">
                <a:latin typeface="+mn-lt"/>
              </a:rPr>
            </a:br>
            <a:br>
              <a:rPr lang="en-US" sz="1600" dirty="0">
                <a:latin typeface="+mn-lt"/>
              </a:rPr>
            </a:br>
            <a:br>
              <a:rPr lang="en-US" sz="1600" dirty="0">
                <a:latin typeface="+mn-lt"/>
              </a:rPr>
            </a:br>
            <a:r>
              <a:rPr lang="en-US" sz="1600" b="1" dirty="0">
                <a:latin typeface="+mn-lt"/>
              </a:rPr>
              <a:t>P4</a:t>
            </a:r>
            <a:br>
              <a:rPr lang="en-US" sz="1600" b="1" dirty="0">
                <a:latin typeface="+mn-lt"/>
              </a:rPr>
            </a:br>
            <a:br>
              <a:rPr lang="en-US" sz="1600" dirty="0">
                <a:latin typeface="+mn-lt"/>
              </a:rPr>
            </a:br>
            <a:r>
              <a:rPr lang="en-US" sz="1600" dirty="0">
                <a:latin typeface="+mn-lt"/>
              </a:rPr>
              <a:t>- create six small graphs</a:t>
            </a:r>
            <a:br>
              <a:rPr lang="en-US" sz="1600" dirty="0">
                <a:latin typeface="+mn-lt"/>
              </a:rPr>
            </a:br>
            <a:r>
              <a:rPr lang="en-US" sz="1600" dirty="0">
                <a:latin typeface="+mn-lt"/>
              </a:rPr>
              <a:t>- possible atoms</a:t>
            </a:r>
            <a:br>
              <a:rPr lang="en-US" sz="1600" dirty="0">
                <a:latin typeface="+mn-lt"/>
              </a:rPr>
            </a:br>
            <a:r>
              <a:rPr lang="en-US" sz="1600" dirty="0">
                <a:latin typeface="+mn-lt"/>
              </a:rPr>
              <a:t># Creating graphs with randomly assigned atom types</a:t>
            </a:r>
            <a:br>
              <a:rPr lang="en-US" sz="1600" dirty="0">
                <a:latin typeface="+mn-lt"/>
              </a:rPr>
            </a:br>
            <a:r>
              <a:rPr lang="en-US" sz="1600" dirty="0">
                <a:latin typeface="+mn-lt"/>
              </a:rPr>
              <a:t>atoms = ['C', 'O', 'N']  # Atom types</a:t>
            </a:r>
            <a:br>
              <a:rPr lang="en-US" sz="1600" dirty="0">
                <a:latin typeface="+mn-lt"/>
              </a:rPr>
            </a:br>
            <a:br>
              <a:rPr lang="en-US" sz="1600" b="1" dirty="0">
                <a:latin typeface="+mn-lt"/>
              </a:rPr>
            </a:br>
            <a:r>
              <a:rPr lang="en-US" sz="1600" b="1" dirty="0" err="1">
                <a:latin typeface="+mn-lt"/>
              </a:rPr>
              <a:t>atom_to_color</a:t>
            </a:r>
            <a:r>
              <a:rPr lang="en-US" sz="1600" b="1" dirty="0">
                <a:latin typeface="+mn-lt"/>
              </a:rPr>
              <a:t> = {'</a:t>
            </a:r>
            <a:r>
              <a:rPr lang="en-US" sz="1600" b="1" dirty="0" err="1">
                <a:latin typeface="+mn-lt"/>
              </a:rPr>
              <a:t>C':'gray</a:t>
            </a:r>
            <a:r>
              <a:rPr lang="en-US" sz="1600" b="1" dirty="0">
                <a:latin typeface="+mn-lt"/>
              </a:rPr>
              <a:t>', '</a:t>
            </a:r>
            <a:r>
              <a:rPr lang="en-US" sz="1600" b="1" dirty="0" err="1">
                <a:latin typeface="+mn-lt"/>
              </a:rPr>
              <a:t>O':'red</a:t>
            </a:r>
            <a:r>
              <a:rPr lang="en-US" sz="1600" b="1" dirty="0">
                <a:latin typeface="+mn-lt"/>
              </a:rPr>
              <a:t>', '</a:t>
            </a:r>
            <a:r>
              <a:rPr lang="en-US" sz="1600" b="1" dirty="0" err="1">
                <a:latin typeface="+mn-lt"/>
              </a:rPr>
              <a:t>N':'blue</a:t>
            </a:r>
            <a:r>
              <a:rPr lang="en-US" sz="1600" b="1" dirty="0">
                <a:latin typeface="+mn-lt"/>
              </a:rPr>
              <a:t>'}</a:t>
            </a:r>
            <a:br>
              <a:rPr lang="en-US" sz="1600" b="1" dirty="0">
                <a:latin typeface="+mn-lt"/>
              </a:rPr>
            </a:br>
            <a:r>
              <a:rPr lang="en-US" sz="1600" b="1" dirty="0">
                <a:latin typeface="+mn-lt"/>
              </a:rPr>
              <a:t>print("atom to color mapping:", </a:t>
            </a:r>
            <a:r>
              <a:rPr lang="en-US" sz="1600" b="1" dirty="0" err="1">
                <a:latin typeface="+mn-lt"/>
              </a:rPr>
              <a:t>atom_to_color</a:t>
            </a:r>
            <a:r>
              <a:rPr lang="en-US" sz="1600" b="1" dirty="0">
                <a:latin typeface="+mn-lt"/>
              </a:rPr>
              <a:t>)</a:t>
            </a:r>
            <a:br>
              <a:rPr lang="en-US" sz="1600" b="1" dirty="0">
                <a:latin typeface="+mn-lt"/>
              </a:rPr>
            </a:br>
            <a:br>
              <a:rPr lang="en-US" sz="1600" b="1" dirty="0">
                <a:latin typeface="+mn-lt"/>
              </a:rPr>
            </a:br>
            <a:br>
              <a:rPr lang="en-US" sz="1600" dirty="0">
                <a:latin typeface="+mn-lt"/>
              </a:rPr>
            </a:br>
            <a:r>
              <a:rPr lang="en-US" sz="1600" dirty="0">
                <a:highlight>
                  <a:srgbClr val="FFFF00"/>
                </a:highlight>
                <a:latin typeface="+mn-lt"/>
              </a:rPr>
              <a:t>- </a:t>
            </a:r>
            <a:r>
              <a:rPr lang="en-US" sz="1600" dirty="0">
                <a:solidFill>
                  <a:srgbClr val="000000"/>
                </a:solidFill>
                <a:effectLst/>
                <a:highlight>
                  <a:srgbClr val="FFFF00"/>
                </a:highlight>
                <a:latin typeface="+mn-lt"/>
                <a:ea typeface="Times New Roman" panose="02020603050405020304" pitchFamily="18" charset="0"/>
              </a:rPr>
              <a:t>You are not asked to train the network. You are demonstrating that you can feed a GNN with batches of graphs.</a:t>
            </a:r>
            <a:br>
              <a:rPr lang="en-US" sz="1800" b="1" dirty="0">
                <a:latin typeface="+mn-lt"/>
              </a:rPr>
            </a:br>
            <a:endParaRPr lang="en-US" sz="1800" b="1" dirty="0">
              <a:latin typeface="+mn-lt"/>
            </a:endParaRPr>
          </a:p>
        </p:txBody>
      </p:sp>
    </p:spTree>
    <p:extLst>
      <p:ext uri="{BB962C8B-B14F-4D97-AF65-F5344CB8AC3E}">
        <p14:creationId xmlns:p14="http://schemas.microsoft.com/office/powerpoint/2010/main" val="2807334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349E2-30EE-1A1C-F168-385258FBE5C7}"/>
            </a:ext>
          </a:extLst>
        </p:cNvPr>
        <p:cNvGrpSpPr/>
        <p:nvPr/>
      </p:nvGrpSpPr>
      <p:grpSpPr>
        <a:xfrm>
          <a:off x="0" y="0"/>
          <a:ext cx="0" cy="0"/>
          <a:chOff x="0" y="0"/>
          <a:chExt cx="0" cy="0"/>
        </a:xfrm>
      </p:grpSpPr>
      <p:sp>
        <p:nvSpPr>
          <p:cNvPr id="3" name="Google Shape;405;p5">
            <a:extLst>
              <a:ext uri="{FF2B5EF4-FFF2-40B4-BE49-F238E27FC236}">
                <a16:creationId xmlns:a16="http://schemas.microsoft.com/office/drawing/2014/main" id="{E6DFA6AC-AA31-6F96-CAA4-D7510A7ABE76}"/>
              </a:ext>
            </a:extLst>
          </p:cNvPr>
          <p:cNvSpPr txBox="1">
            <a:spLocks/>
          </p:cNvSpPr>
          <p:nvPr/>
        </p:nvSpPr>
        <p:spPr>
          <a:xfrm>
            <a:off x="101600" y="46037"/>
            <a:ext cx="11997267" cy="730251"/>
          </a:xfrm>
          <a:prstGeom prst="rect">
            <a:avLst/>
          </a:prstGeom>
          <a:solidFill>
            <a:schemeClr val="accent2"/>
          </a:solid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2800" b="1" dirty="0">
                <a:solidFill>
                  <a:srgbClr val="0070C0"/>
                </a:solidFill>
                <a:latin typeface="Calibri" panose="020F0502020204030204" pitchFamily="34" charset="0"/>
                <a:ea typeface="Calibri" panose="020F0502020204030204" pitchFamily="34" charset="0"/>
                <a:cs typeface="Calibri" panose="020F0502020204030204" pitchFamily="34" charset="0"/>
              </a:rPr>
              <a:t>HW 7</a:t>
            </a:r>
            <a:endParaRPr lang="en-US" sz="2800" dirty="0">
              <a:solidFill>
                <a:srgbClr val="0070C0"/>
              </a:solidFill>
            </a:endParaRPr>
          </a:p>
        </p:txBody>
      </p:sp>
      <p:sp>
        <p:nvSpPr>
          <p:cNvPr id="5" name="Title 4">
            <a:extLst>
              <a:ext uri="{FF2B5EF4-FFF2-40B4-BE49-F238E27FC236}">
                <a16:creationId xmlns:a16="http://schemas.microsoft.com/office/drawing/2014/main" id="{FF043F3A-A2D0-B70D-1833-ED667F15444A}"/>
              </a:ext>
            </a:extLst>
          </p:cNvPr>
          <p:cNvSpPr>
            <a:spLocks noGrp="1"/>
          </p:cNvSpPr>
          <p:nvPr>
            <p:ph type="ctrTitle"/>
          </p:nvPr>
        </p:nvSpPr>
        <p:spPr>
          <a:xfrm>
            <a:off x="254000" y="889001"/>
            <a:ext cx="11670522" cy="4326811"/>
          </a:xfrm>
        </p:spPr>
        <p:txBody>
          <a:bodyPr>
            <a:noAutofit/>
          </a:bodyPr>
          <a:lstStyle/>
          <a:p>
            <a:pPr algn="l"/>
            <a:br>
              <a:rPr lang="en-US" sz="1800" b="1" dirty="0">
                <a:latin typeface="+mn-lt"/>
              </a:rPr>
            </a:br>
            <a:br>
              <a:rPr lang="en-US" sz="1800" dirty="0">
                <a:latin typeface="+mn-lt"/>
              </a:rPr>
            </a:br>
            <a:r>
              <a:rPr lang="en-US" sz="1800" dirty="0">
                <a:latin typeface="+mn-lt"/>
              </a:rPr>
              <a:t># Creating graphs with randomly assigned atom types</a:t>
            </a:r>
            <a:br>
              <a:rPr lang="en-US" sz="1800" dirty="0">
                <a:latin typeface="+mn-lt"/>
              </a:rPr>
            </a:br>
            <a:r>
              <a:rPr lang="en-US" sz="1800" dirty="0">
                <a:latin typeface="+mn-lt"/>
              </a:rPr>
              <a:t>atoms = ['C', 'O', 'N']  # Atom types</a:t>
            </a:r>
            <a:br>
              <a:rPr lang="en-US" sz="1800" dirty="0">
                <a:latin typeface="+mn-lt"/>
              </a:rPr>
            </a:br>
            <a:br>
              <a:rPr lang="en-US" sz="1800" b="1" dirty="0">
                <a:latin typeface="+mn-lt"/>
              </a:rPr>
            </a:br>
            <a:r>
              <a:rPr lang="en-US" sz="1800" b="1" dirty="0" err="1">
                <a:latin typeface="+mn-lt"/>
              </a:rPr>
              <a:t>atom_to_color</a:t>
            </a:r>
            <a:r>
              <a:rPr lang="en-US" sz="1800" b="1" dirty="0">
                <a:latin typeface="+mn-lt"/>
              </a:rPr>
              <a:t> = {'</a:t>
            </a:r>
            <a:r>
              <a:rPr lang="en-US" sz="1800" b="1" dirty="0" err="1">
                <a:latin typeface="+mn-lt"/>
              </a:rPr>
              <a:t>C':'gray</a:t>
            </a:r>
            <a:r>
              <a:rPr lang="en-US" sz="1800" b="1" dirty="0">
                <a:latin typeface="+mn-lt"/>
              </a:rPr>
              <a:t>', '</a:t>
            </a:r>
            <a:r>
              <a:rPr lang="en-US" sz="1800" b="1" dirty="0" err="1">
                <a:latin typeface="+mn-lt"/>
              </a:rPr>
              <a:t>O':'red</a:t>
            </a:r>
            <a:r>
              <a:rPr lang="en-US" sz="1800" b="1" dirty="0">
                <a:latin typeface="+mn-lt"/>
              </a:rPr>
              <a:t>', '</a:t>
            </a:r>
            <a:r>
              <a:rPr lang="en-US" sz="1800" b="1" dirty="0" err="1">
                <a:latin typeface="+mn-lt"/>
              </a:rPr>
              <a:t>N':'blue</a:t>
            </a:r>
            <a:r>
              <a:rPr lang="en-US" sz="1800" b="1" dirty="0">
                <a:latin typeface="+mn-lt"/>
              </a:rPr>
              <a:t>'}</a:t>
            </a:r>
            <a:br>
              <a:rPr lang="en-US" sz="1800" b="1" dirty="0">
                <a:latin typeface="+mn-lt"/>
              </a:rPr>
            </a:br>
            <a:r>
              <a:rPr lang="en-US" sz="1800" b="1" dirty="0">
                <a:latin typeface="+mn-lt"/>
              </a:rPr>
              <a:t>print("atom to color mapping:", </a:t>
            </a:r>
            <a:r>
              <a:rPr lang="en-US" sz="1800" b="1" dirty="0" err="1">
                <a:latin typeface="+mn-lt"/>
              </a:rPr>
              <a:t>atom_to_color</a:t>
            </a:r>
            <a:r>
              <a:rPr lang="en-US" sz="1800" b="1" dirty="0">
                <a:latin typeface="+mn-lt"/>
              </a:rPr>
              <a:t>)</a:t>
            </a:r>
            <a:br>
              <a:rPr lang="en-US" sz="1800" b="1" dirty="0">
                <a:latin typeface="+mn-lt"/>
              </a:rPr>
            </a:br>
            <a:br>
              <a:rPr lang="en-US" sz="1800" b="1" dirty="0">
                <a:latin typeface="+mn-lt"/>
              </a:rPr>
            </a:br>
            <a:r>
              <a:rPr lang="en-US" sz="1800" b="1" dirty="0">
                <a:latin typeface="+mn-lt"/>
              </a:rPr>
              <a:t># Create one-hot encoding to identify all atoms:</a:t>
            </a:r>
            <a:br>
              <a:rPr lang="en-US" sz="1800" b="1" dirty="0">
                <a:latin typeface="+mn-lt"/>
              </a:rPr>
            </a:br>
            <a:r>
              <a:rPr lang="en-US" sz="1800" b="1" dirty="0" err="1">
                <a:latin typeface="+mn-lt"/>
              </a:rPr>
              <a:t>mapping_dict</a:t>
            </a:r>
            <a:r>
              <a:rPr lang="en-US" sz="1800" b="1" dirty="0">
                <a:latin typeface="+mn-lt"/>
              </a:rPr>
              <a:t> = {'C': 0, 'O': 1, 'N': 2}</a:t>
            </a:r>
            <a:br>
              <a:rPr lang="en-US" sz="1800" b="1" dirty="0">
                <a:latin typeface="+mn-lt"/>
              </a:rPr>
            </a:br>
            <a:br>
              <a:rPr lang="en-US" sz="1800" b="1" dirty="0">
                <a:latin typeface="+mn-lt"/>
              </a:rPr>
            </a:br>
            <a:r>
              <a:rPr lang="en-US" sz="1800" b="1" dirty="0">
                <a:latin typeface="+mn-lt"/>
              </a:rPr>
              <a:t>Next, we create 6 graphs with </a:t>
            </a:r>
            <a:r>
              <a:rPr lang="en-US" sz="1800" b="1" dirty="0">
                <a:highlight>
                  <a:srgbClr val="FFFF00"/>
                </a:highlight>
                <a:latin typeface="+mn-lt"/>
              </a:rPr>
              <a:t>4,4,5,5,6,6 </a:t>
            </a:r>
            <a:r>
              <a:rPr lang="en-US" sz="1800" b="1" dirty="0">
                <a:latin typeface="+mn-lt"/>
              </a:rPr>
              <a:t>nodes using the atoms feature we defined above</a:t>
            </a:r>
            <a:br>
              <a:rPr lang="en-US" sz="1800" b="1" dirty="0">
                <a:latin typeface="+mn-lt"/>
              </a:rPr>
            </a:br>
            <a:br>
              <a:rPr lang="en-US" sz="1800" b="1" dirty="0">
                <a:latin typeface="+mn-lt"/>
              </a:rPr>
            </a:br>
            <a:r>
              <a:rPr lang="en-US" sz="1800" b="1" dirty="0">
                <a:latin typeface="+mn-lt"/>
              </a:rPr>
              <a:t>G1</a:t>
            </a:r>
            <a:br>
              <a:rPr lang="en-US" sz="1800" b="1" dirty="0">
                <a:latin typeface="+mn-lt"/>
              </a:rPr>
            </a:br>
            <a:br>
              <a:rPr lang="en-US" sz="1800" b="1" dirty="0">
                <a:latin typeface="+mn-lt"/>
              </a:rPr>
            </a:br>
            <a:br>
              <a:rPr lang="en-US" sz="1800" b="1" dirty="0">
                <a:latin typeface="+mn-lt"/>
              </a:rPr>
            </a:br>
            <a:br>
              <a:rPr lang="en-US" sz="1800" b="1" dirty="0">
                <a:latin typeface="+mn-lt"/>
              </a:rPr>
            </a:br>
            <a:br>
              <a:rPr lang="en-US" sz="1800" dirty="0">
                <a:latin typeface="+mn-lt"/>
              </a:rPr>
            </a:br>
            <a:endParaRPr lang="en-US" sz="1800" b="1" dirty="0">
              <a:latin typeface="+mn-lt"/>
            </a:endParaRPr>
          </a:p>
        </p:txBody>
      </p:sp>
      <p:pic>
        <p:nvPicPr>
          <p:cNvPr id="11" name="Picture 10">
            <a:extLst>
              <a:ext uri="{FF2B5EF4-FFF2-40B4-BE49-F238E27FC236}">
                <a16:creationId xmlns:a16="http://schemas.microsoft.com/office/drawing/2014/main" id="{29FFC839-94CD-C4BE-379B-CCFDE2E0AFD0}"/>
              </a:ext>
            </a:extLst>
          </p:cNvPr>
          <p:cNvPicPr>
            <a:picLocks noChangeAspect="1"/>
          </p:cNvPicPr>
          <p:nvPr/>
        </p:nvPicPr>
        <p:blipFill>
          <a:blip r:embed="rId2"/>
          <a:stretch>
            <a:fillRect/>
          </a:stretch>
        </p:blipFill>
        <p:spPr>
          <a:xfrm>
            <a:off x="1267690" y="3616874"/>
            <a:ext cx="4200049" cy="3014339"/>
          </a:xfrm>
          <a:prstGeom prst="rect">
            <a:avLst/>
          </a:prstGeom>
        </p:spPr>
      </p:pic>
      <p:sp>
        <p:nvSpPr>
          <p:cNvPr id="13" name="TextBox 12">
            <a:extLst>
              <a:ext uri="{FF2B5EF4-FFF2-40B4-BE49-F238E27FC236}">
                <a16:creationId xmlns:a16="http://schemas.microsoft.com/office/drawing/2014/main" id="{75C701D4-9115-168A-263E-2059E42018C0}"/>
              </a:ext>
            </a:extLst>
          </p:cNvPr>
          <p:cNvSpPr txBox="1"/>
          <p:nvPr/>
        </p:nvSpPr>
        <p:spPr>
          <a:xfrm>
            <a:off x="3048778" y="3804166"/>
            <a:ext cx="6097554" cy="369332"/>
          </a:xfrm>
          <a:prstGeom prst="rect">
            <a:avLst/>
          </a:prstGeom>
          <a:noFill/>
        </p:spPr>
        <p:txBody>
          <a:bodyPr wrap="square">
            <a:spAutoFit/>
          </a:bodyPr>
          <a:lstStyle/>
          <a:p>
            <a:pPr algn="l">
              <a:buFont typeface="+mj-lt"/>
              <a:buAutoNum type="arabicPeriod"/>
            </a:pPr>
            <a:r>
              <a:rPr lang="en-US" b="0" i="0" dirty="0">
                <a:effectLst/>
                <a:latin typeface="system-ui"/>
              </a:rPr>
              <a:t>CNO2</a:t>
            </a:r>
          </a:p>
        </p:txBody>
      </p:sp>
    </p:spTree>
    <p:extLst>
      <p:ext uri="{BB962C8B-B14F-4D97-AF65-F5344CB8AC3E}">
        <p14:creationId xmlns:p14="http://schemas.microsoft.com/office/powerpoint/2010/main" val="132458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856</TotalTime>
  <Words>2063</Words>
  <Application>Microsoft Office PowerPoint</Application>
  <PresentationFormat>Widescreen</PresentationFormat>
  <Paragraphs>36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Lato Extended</vt:lpstr>
      <vt:lpstr>system-ui</vt:lpstr>
      <vt:lpstr>Wingdings</vt:lpstr>
      <vt:lpstr>Office Theme</vt:lpstr>
      <vt:lpstr>Final Projects &amp; Presentations Final Projects &amp; Presentations  TA Session 6 Spring 2026 Graph Neural Networks Claudio Bustamante    </vt:lpstr>
      <vt:lpstr>Graph Neural Networks, including what GNNs are, the different types of graph neural networks, and what they're used   What is a Graph? A Graph is the type of data structure that contains nodes and edges. A node can be a person, place, or thing, and the edges define the relationship between nodes. The edges can be directed and undirected based on directional dependencies.  In the example below, the blue circles are nodes, and the arrows are edges. The direction of edges defines dependencies between two nodes.       </vt:lpstr>
      <vt:lpstr>Undirected vs. Directed Graphs  An undirected graph is a graph where the edges do not have a specific direction, and it is bidirectional in nature it does not have a parent-child relation concept as there is no particular direction. A directed graph is a graph that is unidirectional in this the edges have a specific direction, and the edges have directions specified with them also a directed graph can contain cycles.  </vt:lpstr>
      <vt:lpstr>Undirected Graphs: A graph in which edges have no direction, i.e., the edges do not have arrows indicating the direction of traversal. Example: A social network graph where friendships are not directional.  Directed Graphs: A graph in which edges have a direction, i.e., the edges have arrows indicating the direction of traversal. Example: A web page graph where links between pages are directional.  Weighted Graphs: A graph in which edges have weights or costs associated with them. Example: A road network graph where the weights can represent the distance between two cities.  Unweighted Graphs: A graph in which edges have no weights or costs associated with them. Example: A social network graph where the edges represent friendships.  Complete Graphs: A graph in which each vertex is connected to every other vertex. Example: Trees: A connected graph with no cycles. Example: A tree where each person is connected to their parents.   Sparse Graphs: A graph with relatively few edges compared to the number of vertices. Example: A chemical reaction graph where each vertex represents a chemical compound, and each edge represents a reaction between two compounds.</vt:lpstr>
      <vt:lpstr>What is a Graph Neural Network (GNN)? Graph Neural Networks are special types of neural networks capable of working with a graph data structure. They are highly influenced by Convolutional Neural Networks (CNNs) and graph embedding. GNNs are used in predicting nodes, edges, and graph-based tasks.   CNNs are used for image classification. Similarly, GNNs are applied to graph structure (grid of pixels) to predict a class.   Recurrence Neural Networks are used in text classification. Similarly, GNNs are applied to graph structures where every word is a node in a sentence.   A Comprehensive Introduction to Graph Neural Networks (GNNs) | DataCamp The coding examples are influenced by Pytorch geometric documentation. </vt:lpstr>
      <vt:lpstr>Traditional graph analysis methods requires using searching algorithms, clustering spanning tree algorithms and so on. A major downside to using these methods for analysis of graph data is that you require a prior knowledge of the graph to be able to apply these algorithms. Based on the structure of the graph data, traditional machine learning system will not be able to properly interpret the graph data and thus the advent of the Graph Neural Network (GNN). Graph neural network is a domain of deep learning that is mostly concerned with deep learning operations on graph datasets.  Application of Machine learning in Graphs - Protein folding for drug analysis - Recommender systems - Drug side effect prediction - Traffic predictions - Drug discovery - Molecule generation - Physics simulation    </vt:lpstr>
      <vt:lpstr>There are several types of neural networks, and most of them have some variation of Convolutional Neural Networks. In this section, we will be learning about the most popular GNNs.   Graph Convolutional Networks (GCNs) are similar to traditional CNNs. It learns features by inspecting neighboring nodes. GNNs aggregate node vectors, pass the result to the dense layer, and apply non-linearity using the activation function. In short, it consists of Graph convolution, linear layer, and non-learner activation function. There are two major types of GCNs: Spatial Convolutional Networks and Spectral Convolutional Networks.  Graph Auto-Encoder Networks learn graph representation using an encoder and attempt to reconstruct input graphs using a decoder. The encoder and decoders are joined by a bottleneck layer. They are commonly used in link prediction as Auto-Encoders are good at dealing with class balance.   Recurrent Graph Neural Networks(RGNNs) learn the best diffusion pattern, and they can handle multi-relational graphs where a single node has multiple relations. This type of graph neural network uses regularizers to boost smoothness and eliminate over-parameterization. RGNNs use less computation power to produce better results. They are used in generating text, machine translation, speech recognition, generating image descriptions, video tagging, and text summarization.  Gated Graph Neural Networks (GGNNs) are better than the RGNNs in performing tasks with long-term dependencies. Gated Graph Neural Networks improve Recurrent Graph Neural Networks by adding a node, edge, and time gates on long-term dependencies. Similar to Gated Recurrent Units (GRUs), the gates are used to remember and forget information in different states. </vt:lpstr>
      <vt:lpstr>Permutation invariance is a property of a mathematical function or algorithm that remains unchanged even when the order of its inputs is altered. In other words, if we feed the function the same set of values but in a different order, the output remains the same.  This property is particularly important in machine learning and data science because the order of input features can significantly affect the outcome of a model.   Permutation equivariance is the property of a function or model that responds to permutations of input elements by producing correspondingly permuted outputs.  </vt:lpstr>
      <vt:lpstr>Message passing is the core mechanism enabling Graph Neural Networks to learn from graph-structured data by having nodes iteratively exchange information with their neighbor’s.  The process involves three steps:  - Computing messages from neighboring nodes,  - Aggregating these messages through operations like summation or attention, and  - Updating each node’s representation by combining the aggregated information with its current features.   Through multiple iterations, nodes can capture increasingly complex patterns from both local neighborhoods and distant parts of the graph.  </vt:lpstr>
      <vt:lpstr>import networkx as nx  # Create a graph G = nx.Graph()  # Add node 1 with attribute color='blue' G.add_nodes_from([(1, {"color": "blue"})])  # Verify the node attributes print(G.nodes[1])  # Output: {'color': 'blue'}  </vt:lpstr>
      <vt:lpstr>GNN Cheatsheet — pytorch_geometric documentation (pytorch-geometric.readthedocs.io)  GNN-Tutorial/GNN-tutorial-solution.ipynb at master · sw-gong/GNN-Tutorial · GitHub  Hands-on Graph Neural Networks for Social Network Using PyTorch | by Awadelrahman M. A. Ahmed | Medium  What is the difference between an undirected and a directed Graph? – GeeksforGeeks  Drawing — NetworkX 3.2.1 documentation  Introduction to Graph Neural Network with Pytorch | Kaggle  Understanding Message Passing in Graph Neural Networks | by Rajeev Chandran | Medium</vt:lpstr>
      <vt:lpstr>Lab2025 - NetworkX - This guide can help you start working with NetworkX.  Petersen graph – Wikipedia  Lab 6 Shortest Path - NetworkX — NetworkX documentation / GitHub - networkx/networkx: Network Analysis in Python  Lab7_2024 PyG Documentation — pytorch_geometric documentation – takes longer to run   Chapter 18 – part 1 Chapter 18 – part 2  Both files were uploaded    </vt:lpstr>
      <vt:lpstr>P1 and P2   A permutation matrix is a square binary matrix with exactly one '1' in each row and column, and '0's elsewhere, used to rearrange (permute) the rows or columns of another matrix via multiplication  # Original adjacency matrix nx.adjacency_matrix  # Permutation matrix P for relabeling nodes (1,2,3,4,5) to (5,1,3,2,4) # Draw the graph  # Compute the adjacency matrix of the permuted graph #perform matric multiplications P_t = P.t() A_perm_step1 = torch.matmul(P, A_orig) A_perm = torch.matmul(A_perm_step1, P_t)  # Check if the permuted adjacency matrix is identical to the original  print(torch.equal(A_perm, A_orig)) </vt:lpstr>
      <vt:lpstr>P3  //assign weights G_orig.edges[edge]['weight'] = TBD  G.edges[e]['weight'] = (i-j)**2   //calculate average weight return np.mean(weights)   P4  - create six small graphs - possible atoms # Creating graphs with randomly assigned atom types atoms = ['C', 'O', 'N']  # Atom types  atom_to_color = {'C':'gray', 'O':'red', 'N':'blue'} print("atom to color mapping:", atom_to_color)   - You are not asked to train the network. You are demonstrating that you can feed a GNN with batches of graphs. </vt:lpstr>
      <vt:lpstr>  # Creating graphs with randomly assigned atom types atoms = ['C', 'O', 'N']  # Atom types  atom_to_color = {'C':'gray', 'O':'red', 'N':'blue'} print("atom to color mapping:", atom_to_color)  # Create one-hot encoding to identify all atoms: mapping_dict = {'C': 0, 'O': 1, 'N': 2}  Next, we create 6 graphs with 4,4,5,5,6,6 nodes using the atoms feature we defined above  G1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Pre-trained Transformers (GPT)   Lecture 12 Spring 2023 CSCI E-104 - Advanced Deep Learning Sources:  What you need to know about multimodal language models - TechTalks (bdtechtalks.com) What is GPT-4 and Why Does it Matter? | DataCamp </dc:title>
  <dc:creator>claudio bustamante</dc:creator>
  <cp:lastModifiedBy>claudio bustamante</cp:lastModifiedBy>
  <cp:revision>259</cp:revision>
  <dcterms:created xsi:type="dcterms:W3CDTF">2023-04-20T15:10:34Z</dcterms:created>
  <dcterms:modified xsi:type="dcterms:W3CDTF">2026-03-07T18:56:24Z</dcterms:modified>
</cp:coreProperties>
</file>